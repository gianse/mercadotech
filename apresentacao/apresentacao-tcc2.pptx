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1059a63-666f-8d3e-149a-fc26ea3d88a0}">
          <p14:sldIdLst>
            <p14:sldId id="256"/>
            <p14:sldId id="257"/>
            <p14:sldId id="258"/>
            <p14:sldId id="259"/>
          </p14:sldIdLst>
        </p14:section>
        <p14:section name="Plataforma" id="{54b2530f-622a-d295-46de-7887caa87f6b}">
          <p14:sldIdLst>
            <p14:sldId id="260"/>
            <p14:sldId id="261"/>
            <p14:sldId id="262"/>
          </p14:sldIdLst>
        </p14:section>
        <p14:section name="Qualidade do dado" id="{c38c57ec-312b-0eaa-7298-17e7708b981d}">
          <p14:sldIdLst>
            <p14:sldId id="263"/>
            <p14:sldId id="264"/>
          </p14:sldIdLst>
        </p14:section>
        <p14:section name="Resultados" id="{a3558d33-5037-0d5e-5fab-4fbbf604be93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Entrega" id="{5ff93034-e9fd-0050-8f40-773969475360}">
          <p14:sldIdLst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6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630"/>
                </a:solidFill>
                <a:latin typeface="+mn-lt"/>
              </a:rPr>
              <a:t>Lente de ocupação: este trabalho vs painel do MTE (RAIS)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Diferença para o painel do MTE (%)</c:v>
                </c:pt>
              </c:strCache>
            </c:strRef>
          </c:tx>
          <c:spPr>
            <a:solidFill>
              <a:srgbClr val="F2B705"/>
            </a:solidFill>
            <a:effectLst/>
          </c:spPr>
          <c:invertIfNegative val="0"/>
          <c:dLbls>
            <c:numFmt formatCode="+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</c:v>
                </c:pt>
                <c:pt idx="1">
                  <c:v>0.98</c:v>
                </c:pt>
                <c:pt idx="2">
                  <c:v>1.06</c:v>
                </c:pt>
              </c:numCache>
            </c:numRef>
          </c:val>
        </c:ser>
        <c:dLbls>
          <c:numFmt formatCode="+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6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8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1"/>
        <c:axPos val="l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8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6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630"/>
                </a:solidFill>
                <a:latin typeface="+mn-lt"/>
              </a:rPr>
              <a:t>Vínculos de TI ativos em 31/12 (mil)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Vínculos de TI em 31/12</c:v>
                </c:pt>
              </c:strCache>
            </c:strRef>
          </c:tx>
          <c:spPr>
            <a:solidFill>
              <a:srgbClr val="1B2630"/>
            </a:solidFill>
            <a:ln w="38100" cap="flat">
              <a:solidFill>
                <a:srgbClr val="1B26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2630"/>
              </a:solidFill>
              <a:ln w="9525" cap="flat">
                <a:solidFill>
                  <a:srgbClr val="1B26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2007</c:v>
                  </c:pt>
                  <c:pt idx="1">
                    <c:v>2008</c:v>
                  </c:pt>
                  <c:pt idx="2">
                    <c:v>2009</c:v>
                  </c:pt>
                  <c:pt idx="3">
                    <c:v>2010</c:v>
                  </c:pt>
                  <c:pt idx="4">
                    <c:v>2011</c:v>
                  </c:pt>
                  <c:pt idx="5">
                    <c:v>2012</c:v>
                  </c:pt>
                  <c:pt idx="6">
                    <c:v>2013</c:v>
                  </c:pt>
                  <c:pt idx="7">
                    <c:v>2014</c:v>
                  </c:pt>
                  <c:pt idx="8">
                    <c:v>2015</c:v>
                  </c:pt>
                  <c:pt idx="9">
                    <c:v>2016</c:v>
                  </c:pt>
                  <c:pt idx="10">
                    <c:v>2017</c:v>
                  </c:pt>
                  <c:pt idx="11">
                    <c:v>2018</c:v>
                  </c:pt>
                  <c:pt idx="12">
                    <c:v>2019</c:v>
                  </c:pt>
                  <c:pt idx="13">
                    <c:v>2020</c:v>
                  </c:pt>
                  <c:pt idx="14">
                    <c:v>2021</c:v>
                  </c:pt>
                  <c:pt idx="15">
                    <c:v>2022</c:v>
                  </c:pt>
                  <c:pt idx="16">
                    <c:v>2023</c:v>
                  </c:pt>
                  <c:pt idx="17">
                    <c:v>2024</c:v>
                  </c:pt>
                  <c:pt idx="18">
                    <c:v>2025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560.04</c:v>
                </c:pt>
                <c:pt idx="1">
                  <c:v>615.662</c:v>
                </c:pt>
                <c:pt idx="2">
                  <c:v>655.413</c:v>
                </c:pt>
                <c:pt idx="3">
                  <c:v>714.598</c:v>
                </c:pt>
                <c:pt idx="4">
                  <c:v>708.607</c:v>
                </c:pt>
                <c:pt idx="5">
                  <c:v>748.663</c:v>
                </c:pt>
                <c:pt idx="6">
                  <c:v>781.204</c:v>
                </c:pt>
                <c:pt idx="7">
                  <c:v>812.417</c:v>
                </c:pt>
                <c:pt idx="8">
                  <c:v>816.04</c:v>
                </c:pt>
                <c:pt idx="9">
                  <c:v>796.671</c:v>
                </c:pt>
                <c:pt idx="10">
                  <c:v>782.309</c:v>
                </c:pt>
                <c:pt idx="11">
                  <c:v>866.624</c:v>
                </c:pt>
                <c:pt idx="12">
                  <c:v>895.83</c:v>
                </c:pt>
                <c:pt idx="13">
                  <c:v>943.105</c:v>
                </c:pt>
                <c:pt idx="14">
                  <c:v>1073.706</c:v>
                </c:pt>
                <c:pt idx="15">
                  <c:v>1258.939</c:v>
                </c:pt>
                <c:pt idx="16">
                  <c:v>1261.089</c:v>
                </c:pt>
                <c:pt idx="17">
                  <c:v>1311.311</c:v>
                </c:pt>
                <c:pt idx="18">
                  <c:v>1361.231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6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-2700000"/>
          <a:lstStyle/>
          <a:p>
            <a:pPr>
              <a:defRPr sz="1100" b="0" i="0" u="none" strike="noStrike">
                <a:solidFill>
                  <a:srgbClr val="4A58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8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6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630"/>
                </a:solidFill>
                <a:latin typeface="+mn-lt"/>
              </a:rPr>
              <a:t>Remuneração mediana em 2025 (salários mínimos)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Mediana (SM)</c:v>
                </c:pt>
              </c:strCache>
            </c:strRef>
          </c:tx>
          <c:spPr>
            <a:solidFill>
              <a:srgbClr val="1B263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TI fora de empresa de TI</c:v>
                  </c:pt>
                  <c:pt idx="1">
                    <c:v>TI em empresa de TI</c:v>
                  </c:pt>
                  <c:pt idx="2">
                    <c:v>Outra ocupação em empresa de TI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4.13</c:v>
                </c:pt>
                <c:pt idx="1">
                  <c:v>4.31</c:v>
                </c:pt>
                <c:pt idx="2">
                  <c:v>2.06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6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8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2"/>
          <c:min val="0"/>
        </c:scaling>
        <c:delete val="1"/>
        <c:axPos val="b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8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6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630"/>
                </a:solidFill>
                <a:latin typeface="+mn-lt"/>
              </a:rPr>
              <a:t>Remuneração mediana (salários mínimos)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Mediana (SM)</c:v>
                </c:pt>
              </c:strCache>
            </c:strRef>
          </c:tx>
          <c:spPr>
            <a:solidFill>
              <a:srgbClr val="1B2630"/>
            </a:solidFill>
            <a:ln w="38100" cap="flat">
              <a:solidFill>
                <a:srgbClr val="1B26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2630"/>
              </a:solidFill>
              <a:ln w="9525" cap="flat">
                <a:solidFill>
                  <a:srgbClr val="1B26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2007</c:v>
                  </c:pt>
                  <c:pt idx="1">
                    <c:v>2008</c:v>
                  </c:pt>
                  <c:pt idx="2">
                    <c:v>2009</c:v>
                  </c:pt>
                  <c:pt idx="3">
                    <c:v>2010</c:v>
                  </c:pt>
                  <c:pt idx="4">
                    <c:v>2011</c:v>
                  </c:pt>
                  <c:pt idx="5">
                    <c:v>2012</c:v>
                  </c:pt>
                  <c:pt idx="6">
                    <c:v>2013</c:v>
                  </c:pt>
                  <c:pt idx="7">
                    <c:v>2014</c:v>
                  </c:pt>
                  <c:pt idx="8">
                    <c:v>2015</c:v>
                  </c:pt>
                  <c:pt idx="9">
                    <c:v>2016</c:v>
                  </c:pt>
                  <c:pt idx="10">
                    <c:v>2017</c:v>
                  </c:pt>
                  <c:pt idx="11">
                    <c:v>2018</c:v>
                  </c:pt>
                  <c:pt idx="12">
                    <c:v>2019</c:v>
                  </c:pt>
                  <c:pt idx="13">
                    <c:v>2020</c:v>
                  </c:pt>
                  <c:pt idx="14">
                    <c:v>2021</c:v>
                  </c:pt>
                  <c:pt idx="15">
                    <c:v>2022</c:v>
                  </c:pt>
                  <c:pt idx="16">
                    <c:v>2023</c:v>
                  </c:pt>
                  <c:pt idx="17">
                    <c:v>2024</c:v>
                  </c:pt>
                  <c:pt idx="18">
                    <c:v>2025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3.24</c:v>
                </c:pt>
                <c:pt idx="1">
                  <c:v>3.2</c:v>
                </c:pt>
                <c:pt idx="2">
                  <c:v>3.11</c:v>
                </c:pt>
                <c:pt idx="3">
                  <c:v>3.05</c:v>
                </c:pt>
                <c:pt idx="4">
                  <c:v>3.3</c:v>
                </c:pt>
                <c:pt idx="5">
                  <c:v>3.25</c:v>
                </c:pt>
                <c:pt idx="6">
                  <c:v>3.34</c:v>
                </c:pt>
                <c:pt idx="7">
                  <c:v>3.45</c:v>
                </c:pt>
                <c:pt idx="8">
                  <c:v>3.46</c:v>
                </c:pt>
                <c:pt idx="9">
                  <c:v>3.35</c:v>
                </c:pt>
                <c:pt idx="10">
                  <c:v>3.42</c:v>
                </c:pt>
                <c:pt idx="11">
                  <c:v>3.38</c:v>
                </c:pt>
                <c:pt idx="12">
                  <c:v>3.3</c:v>
                </c:pt>
                <c:pt idx="13">
                  <c:v>3.29</c:v>
                </c:pt>
                <c:pt idx="14">
                  <c:v>3.37</c:v>
                </c:pt>
                <c:pt idx="15">
                  <c:v>3.59</c:v>
                </c:pt>
                <c:pt idx="16">
                  <c:v>3.49</c:v>
                </c:pt>
                <c:pt idx="17">
                  <c:v>3.47</c:v>
                </c:pt>
                <c:pt idx="18">
                  <c:v>3.41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6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-2700000"/>
          <a:lstStyle/>
          <a:p>
            <a:pPr>
              <a:defRPr sz="1100" b="0" i="0" u="none" strike="noStrike">
                <a:solidFill>
                  <a:srgbClr val="4A58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8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6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630"/>
                </a:solidFill>
                <a:latin typeface="+mn-lt"/>
              </a:rPr>
              <a:t>Risco de desligamento no ano, 2024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Risco no ano (%)</c:v>
                </c:pt>
              </c:strCache>
            </c:strRef>
          </c:tx>
          <c:spPr>
            <a:solidFill>
              <a:srgbClr val="8A96A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6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B70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6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96A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96A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A96A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A96A3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0–6m</c:v>
                  </c:pt>
                  <c:pt idx="1">
                    <c:v>6–12m</c:v>
                  </c:pt>
                  <c:pt idx="2">
                    <c:v>1–2a</c:v>
                  </c:pt>
                  <c:pt idx="3">
                    <c:v>2–3a</c:v>
                  </c:pt>
                  <c:pt idx="4">
                    <c:v>3–5a</c:v>
                  </c:pt>
                  <c:pt idx="5">
                    <c:v>5–10a</c:v>
                  </c:pt>
                  <c:pt idx="6">
                    <c:v>10–20a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21.3</c:v>
                </c:pt>
                <c:pt idx="1">
                  <c:v>27.7</c:v>
                </c:pt>
                <c:pt idx="2">
                  <c:v>24.3</c:v>
                </c:pt>
                <c:pt idx="3">
                  <c:v>20.3</c:v>
                </c:pt>
                <c:pt idx="4">
                  <c:v>16</c:v>
                </c:pt>
                <c:pt idx="5">
                  <c:v>11</c:v>
                </c:pt>
                <c:pt idx="6">
                  <c:v>6.1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6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8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1"/>
        <c:axPos val="l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8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6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630"/>
                </a:solidFill>
                <a:latin typeface="+mn-lt"/>
              </a:rPr>
              <a:t>Oaxaca-Blinder, 2025 (pontos de log-salário)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Explicada por características</c:v>
                </c:pt>
              </c:strCache>
            </c:strRef>
          </c:tx>
          <c:spPr>
            <a:solidFill>
              <a:srgbClr val="8A96A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Homem × Mulher</c:v>
                  </c:pt>
                  <c:pt idx="1">
                    <c:v>Branca × Preta</c:v>
                  </c:pt>
                  <c:pt idx="2">
                    <c:v>Branca × Parda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-0.058</c:v>
                </c:pt>
                <c:pt idx="1">
                  <c:v>0.145</c:v>
                </c:pt>
                <c:pt idx="2">
                  <c:v>0.237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Não explicada</c:v>
                </c:pt>
              </c:strCache>
            </c:strRef>
          </c:tx>
          <c:spPr>
            <a:solidFill>
              <a:srgbClr val="1B263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Homem × Mulher</c:v>
                  </c:pt>
                  <c:pt idx="1">
                    <c:v>Branca × Preta</c:v>
                  </c:pt>
                  <c:pt idx="2">
                    <c:v>Branca × Parda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0.134</c:v>
                </c:pt>
                <c:pt idx="1">
                  <c:v>0.124</c:v>
                </c:pt>
                <c:pt idx="2">
                  <c:v>0.086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6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8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-0.1"/>
        </c:scaling>
        <c:delete val="1"/>
        <c:axPos val="l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8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6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630"/>
                </a:solidFill>
                <a:latin typeface="+mn-lt"/>
              </a:rPr>
              <a:t>Nowcast: erro médio em 12 anos retidos (2014–2025)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 médio (%)</c:v>
                </c:pt>
              </c:strCache>
            </c:strRef>
          </c:tx>
          <c:spPr>
            <a:solidFill>
              <a:srgbClr val="F2B705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Identidade</c:v>
                  </c:pt>
                  <c:pt idx="1">
                    <c:v>Razão mediana</c:v>
                  </c:pt>
                  <c:pt idx="2">
                    <c:v>Regressão OLS</c:v>
                  </c:pt>
                  <c:pt idx="3">
                    <c:v>Ingênuo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2.12</c:v>
                </c:pt>
                <c:pt idx="1">
                  <c:v>2.18</c:v>
                </c:pt>
                <c:pt idx="2">
                  <c:v>2.49</c:v>
                </c:pt>
                <c:pt idx="3">
                  <c:v>5.09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6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8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.2"/>
          <c:min val="0"/>
        </c:scaling>
        <c:delete val="1"/>
        <c:axPos val="b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8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tarde. Sou o Gian, e vou apresentar meu TCC: uma plataforma de dados sobre o emprego formal em tecnologia no Brasil, construída sobre os microdados da RAIS e do CAGED, e o que ela mostra sobre esse mercado. São cerca de vinte minutos: problema, dados, arquitetura, como garanti que o número está certo, as cinco respostas e as limitações.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RAIS e o CAGED são as duas grandes bases do emprego formal, e são públicas. Mas o que circula sobre o setor de TI são agregados fechados, de associações e consultorias, com recortes curtos e sem como reproduzir. O motivo é engenharia: o CAGED mudou de formato em 2020, a RAIS mudou de layout várias vezes, e os dicionários de códigos estão em planilhas à parte. A proposta foi construir a plataforma inteira, aberta, e só então responder às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central é se o crescimento do emprego em tecnologia entre 2007 e 2026 veio acompanhado de salários melhores e de mais equidade. Ela se desdobra em cinco perguntas, e o trabalho inteiro — inclusive o dashboard — é organizado por elas. À direita, o instrumento usado em cada 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método foi o CRISP-DM, e o que importa nele aqui é o ciclo. A proposta definiu fontes, recorte e perguntas; a execução mostrou várias vezes que algo precisava mudar, e o trabalho voltava a uma fase anterior. Registrei os principais no TCC. A maioria partiu da Avaliação: foi confrontando um resultado com o plausível que os defeitos apareceram. Três mudaram o que se perguntava — a projeção até 2030 virou nowcast do presente. Vários resultados que vou mostrar existem por causa desses retornos.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880 pacotes compactados no servidor FTP do Ministério, 53 gigabytes; descompactados, 661 gigabytes de texto. Convertidos para Parquet com compressão ZSTD, ficam em 56 gigabytes — onze vezes menos que o texto, e legíveis coluna a coluna. O recorte de tecnologia resultou em 23,8 milhões de registros da RAIS e 12,1 milhões de movimentações do CAGED. A redução é o que viabiliza tudo: a camada tratada tem 1,3 gigabyte. A RAIS dá o estoque, uma fotografia em 31 de dezembro; o CAGED dá o fluxo mensal.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decisão metodológica mais importante: em vez de escolher entre definir TI pela atividade da empresa ou pela ocupação do trabalhador, o recorte é a união das duas, e cada registro carrega os dois rótulos. Isso separa três grupos: o profissional de TI dentro de empresa de TI, o profissional de TI fora — em banco, varejo, indústria, governo — e quem trabalha em empresa de TI em outra função. Esses números de 2025 são o centro da pergunta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arquitetura é Medalhão. A Bronze guarda o microdado como veio, só convertido para Parquet. A Silver aplica o recorte e traduz os códigos pelos dicionários oficiais, registrando a procedência de cada tradução. A Gold tem os agregados e os modelos, menos de 10 megabytes. Tudo roda em nuvem: o data lake são repositórios públicos do Hugging Face, o processamento são workflows do GitHub Actions encadeados, e o dashboard é um site estático em React em que o DuckDB, compilado para WebAssembly, faz as consultas no navegador de quem visita. Custo de infraestrutura: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validação de que mais me orgulho. A mais exigente não é comparar com painel oficial — erros podem se cancelar numa soma — e sim reconstruir o recorte a partir do dado bruto. Recontei todos os anos das duas bases, arquivo por arquivo: 35,9 milhões de registros, diferença zero. Mas só depois de uma correção: a primeira rodada achou 206.950 linhas duplicadas no CAGED antigo de 2007, que dobravam a série daquele ano. A verificação de um mês de 2025 não acharia isso. Reconstruí 2007 e a diferença foi a zero. A consulta do apêndice permite a qualquer pessoa repetir a conta. Depois comparei com um painel público do MTE, em Power BI, consultando-o com os mesmos 34 códigos: fico cerca de 1% acima, de forma sistemática — o perfil de uma diferença de critério, não de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auditoria encontrou defeitos na fonte e um erro meu. O mais instrutivo é a ingestão parcial: a verificação perguntava se cada arquivo tinha saída, e tinha — mas faltavam pedaços. Só apareceu porque a série ficou implausível, 2022 abaixo de 2021. A correção foi reconstruir e passar a verificar pedaço a pedaço. E registro o meu erro de método: calculei a mediana do total como média das medianas dos grupos. Mediana não se soma. Corrigido, a comparação entre as lentes se inverteu. Todos os números da apresentação são da versão corrigida.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resposta: o estoque passou de 560 mil vínculos em 2007 para 1,36 milhão em 2025, crescimento de 143%. O crescimento não é uniforme: o salto está em 2021 e 2022, a aceleração digital da pandemia, e depois desacelera. O CAGED confirma, com cerca de 670 mil vagas líquidas no período. A diferença entre o saldo do CAGED e a variação da RAIS não é erro — as bases têm cobertura e prazos diferentes — e é justamente o que o nowcast da pergunta 5 modela.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achado central. 58% dos profissionais de TI estão fora das empresas de TI. E ganham praticamente o mesmo: 4,13 salários mínimos de mediana, contra 4,31 de quem está dentro, com mais tempo de emprego. Em 2007 o prêmio de estar numa empresa de TI era grande, e encolheu. E o terceiro grupo — quem trabalha em empresa de TI em outra função — ganha menos da metade. Um recorte só pelo CNAE mistura esse grupo com os profissionais e não vê a maioria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território, São Paulo tem 41% do estoque. Por isso fiz uma análise de sensibilidade: SP cresceu 154% e o resto do país 136% — a conclusão de crescimento não depende de SP. Mas a remuneração sim: a mediana paulista subiu e a do resto caiu, e a estabilidade nacional é a soma desses dois movimentos. O agrupamento de municípios mostra ainda que, entre 2020 e 2025, o interior cresceu 54% e as capitais 38%. Uma ressalva importante: a localização é a do estabelecimento, não a do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Crescer não é melhorar. A remuneração mediana, medida em salários mínimos para comparar 2007 com 2025 sem escolher deflator, foi de 3,24 para 3,41: 5% em dezoito anos. O emprego dobrou, a posição relativa do salário ficou onde estava. À direita, o risco de desligamento por tempo de casa: o pico não é nos primeiros meses, é entre 6 e 12, e cai depois. Aqui também há um erro registrado: a primeira tentativa usou Kaplan-Meier e deu 48 anos de permanência — o estimador supõe coorte, e a RAIS é corte transversal. A tábua de vida de período responde à pergunta certa.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decomposição de Oaxaca-Blinder separa o hiato em uma parte explicada pelas características observadas — escolaridade, área, porte, região, idade, jornada — e uma não explicada. No gênero, a parte explicada é negativa: pelas características, as mulheres deveriam ganhar mais. Toda a diferença é de retorno. Na raça é o oposto: a maior parte é explicada, ou seja, acesso às posições que pagam mais. Uma cautela: a parcela não explicada não mede discriminação, é um limite superior. E a participação feminina caiu de 34% para 31%.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previsão, o SARIMA escolhido por validação de origem móvel erra 33% menos que repetir o mesmo mês do ano anterior. O Prophet, que estava na proposta, entrou na mesma validação: o melhor ficou em 10,5%, e com a tendência padrão ficou pior que o ingênuo — a série é completa e de sazonalidade estável, terreno do SARIMA. Mas o intervalo cruza o zero ao fim do primeiro ano, então projetar até 2030, como a proposta previa, seria um número sem conteúdo — reporto 18 meses com intervalo. O resultado forte é o nowcast: estimar o estoque do ano corrente, que a RAIS só publica um ano depois, a partir do fluxo do CAGED. Testei cada ano de 2014 a 2025 estimando só com os anos anteriores: o melhor estimador erra em média 2,1%, contra 5,1% do ingênuo, e em dez dos doze anos até 2,2%. Os anos ruins, 2018 e 2022, são saltos do estoque que o fluxo do CAGED não mostra. Estimar o presente rende mais do que prever o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camada de apresentação é um site estático em React. As páginas de pergunta funcionam como um painel: pergunta, filtros, indicadores e gráficos, sem texto corrido. A interpretação está numa página de análise à parte. O filtro de território vale para o site inteiro, e cada gráfico abre a tabela com os valores exatos. Quando o pipeline processa um mês novo, a mesma execução reconstrói o site. Se houver tempo, posso mostrar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Juntando as cinco respostas: o mercado cresceu muito, deixou de ser um setor para virar uma função distribuída pela economia, e esse crescimento não se converteu em melhora de remuneração relativa nem em redução das desigualdades de gênero e raça.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limitações estão declaradas. A RAIS e o CAGED só veem o mercado formal, e em TI a contratação como PJ é comum. A localização é a do estabelecimento. A decomposição não mede discriminação. A validação externa cobre só a lente de ocupação — estendê-la à lente de setor com o cadastro de empresas do IBGE fica como trabalho futuro —, e o nowcast erra mais nos anos de salto do estoque. Como próximos passos: medir retenção por gênero cruzando as duas bases, a decomposição regional, e reaproveitar o pipeline para outros recortes — basta trocar a lista de códigos.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Obrigado. O dashboard, o código e os dados estão públicos nesses endereços. Fico à disposição para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PA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UDO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mercadotech.pages.dev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mercadotech.pages.dev" TargetMode="External"/><Relationship Id="rId2" Type="http://schemas.openxmlformats.org/officeDocument/2006/relationships/hyperlink" Target="https://github.com/GianSE/mercadotech" TargetMode="External"/><Relationship Id="rId3" Type="http://schemas.openxmlformats.org/officeDocument/2006/relationships/hyperlink" Target="https://huggingface.co/Gianpedro" TargetMode="External"/><Relationship Id="rId4" Type="http://schemas.openxmlformats.org/officeDocument/2006/relationships/image" Target="../media/image-19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a-curso"/>
          <p:cNvSpPr txBox="1"/>
          <p:nvPr/>
        </p:nvSpPr>
        <p:spPr>
          <a:xfrm>
            <a:off x="548640" y="1600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2"/>
                </a:solidFill>
              </a:rPr>
              <a:t>TRABALHO DE CONCLUSÃO DE CURSO 2 · ENGENHARIA DE COMPUTAÇÃO</a:t>
            </a:r>
            <a:endParaRPr lang="en-US" sz="1300" dirty="0"/>
          </a:p>
        </p:txBody>
      </p:sp>
      <p:sp>
        <p:nvSpPr>
          <p:cNvPr id="3" name="capa-titulo"/>
          <p:cNvSpPr txBox="1"/>
          <p:nvPr/>
        </p:nvSpPr>
        <p:spPr>
          <a:xfrm>
            <a:off x="548640" y="2011680"/>
            <a:ext cx="8961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Análise, Visualização e Previsão do Mercado de Tecnologia no Brasil</a:t>
            </a:r>
            <a:endParaRPr lang="en-US" sz="3800" dirty="0"/>
          </a:p>
        </p:txBody>
      </p:sp>
      <p:sp>
        <p:nvSpPr>
          <p:cNvPr id="4" name="capa-subtitulo"/>
          <p:cNvSpPr txBox="1"/>
          <p:nvPr/>
        </p:nvSpPr>
        <p:spPr>
          <a:xfrm>
            <a:off x="548640" y="3474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utilizando dados históricos da RAIS e do CAGED</a:t>
            </a:r>
            <a:endParaRPr lang="en-US" sz="2200" dirty="0"/>
          </a:p>
        </p:txBody>
      </p:sp>
      <p:sp>
        <p:nvSpPr>
          <p:cNvPr id="5" name="capa-autor"/>
          <p:cNvSpPr txBox="1"/>
          <p:nvPr/>
        </p:nvSpPr>
        <p:spPr>
          <a:xfrm>
            <a:off x="548640" y="4343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Gian Pedro Rodrigues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Orientador: Prof. Me. Francisco Pereira Junior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Cornélio Procópio · 2026</a:t>
            </a:r>
            <a:endParaRPr lang="en-US" sz="2000" dirty="0"/>
          </a:p>
        </p:txBody>
      </p:sp>
      <p:pic>
        <p:nvPicPr>
          <p:cNvPr id="6" name="capa-logo" descr="Universidade que Transforma — UTFP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897880"/>
            <a:ext cx="3840480" cy="615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linha-1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CONTEXTO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dado existe, mas não está pronto para responder</a:t>
            </a:r>
            <a:endParaRPr lang="en-US" sz="2800" dirty="0"/>
          </a:p>
        </p:txBody>
      </p:sp>
      <p:sp>
        <p:nvSpPr>
          <p:cNvPr id="4" name="cartao-2"/>
          <p:cNvSpPr/>
          <p:nvPr/>
        </p:nvSpPr>
        <p:spPr>
          <a:xfrm>
            <a:off x="548640" y="2148840"/>
            <a:ext cx="2987040" cy="329184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rculo-3"/>
          <p:cNvSpPr/>
          <p:nvPr/>
        </p:nvSpPr>
        <p:spPr>
          <a:xfrm>
            <a:off x="868680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irculo-texto-4"/>
          <p:cNvSpPr txBox="1"/>
          <p:nvPr/>
        </p:nvSpPr>
        <p:spPr>
          <a:xfrm>
            <a:off x="8686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card-titulo-5"/>
          <p:cNvSpPr txBox="1"/>
          <p:nvPr/>
        </p:nvSpPr>
        <p:spPr>
          <a:xfrm>
            <a:off x="868680" y="320040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que existe</a:t>
            </a:r>
            <a:endParaRPr lang="en-US" sz="2000" dirty="0"/>
          </a:p>
        </p:txBody>
      </p:sp>
      <p:sp>
        <p:nvSpPr>
          <p:cNvPr id="8" name="card-texto-6"/>
          <p:cNvSpPr txBox="1"/>
          <p:nvPr/>
        </p:nvSpPr>
        <p:spPr>
          <a:xfrm>
            <a:off x="868680" y="3703320"/>
            <a:ext cx="234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Painéis e relatórios com agregados fechados, recortes curtos e sem como refazer a conta.</a:t>
            </a:r>
            <a:endParaRPr lang="en-US" sz="1600" dirty="0"/>
          </a:p>
        </p:txBody>
      </p:sp>
      <p:sp>
        <p:nvSpPr>
          <p:cNvPr id="9" name="cartao-7"/>
          <p:cNvSpPr/>
          <p:nvPr/>
        </p:nvSpPr>
        <p:spPr>
          <a:xfrm>
            <a:off x="3810000" y="2148840"/>
            <a:ext cx="2987040" cy="329184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irculo-8"/>
          <p:cNvSpPr/>
          <p:nvPr/>
        </p:nvSpPr>
        <p:spPr>
          <a:xfrm>
            <a:off x="4130040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circulo-texto-9"/>
          <p:cNvSpPr txBox="1"/>
          <p:nvPr/>
        </p:nvSpPr>
        <p:spPr>
          <a:xfrm>
            <a:off x="41300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card-titulo-10"/>
          <p:cNvSpPr txBox="1"/>
          <p:nvPr/>
        </p:nvSpPr>
        <p:spPr>
          <a:xfrm>
            <a:off x="4130040" y="320040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obstáculo</a:t>
            </a:r>
            <a:endParaRPr lang="en-US" sz="2000" dirty="0"/>
          </a:p>
        </p:txBody>
      </p:sp>
      <p:sp>
        <p:nvSpPr>
          <p:cNvPr id="13" name="card-texto-11"/>
          <p:cNvSpPr txBox="1"/>
          <p:nvPr/>
        </p:nvSpPr>
        <p:spPr>
          <a:xfrm>
            <a:off x="4130040" y="3703320"/>
            <a:ext cx="234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Layouts que mudam ao longo dos anos, CAGED em largura fixa até 2019 e CSV depois, dicionários em planilhas separadas.</a:t>
            </a:r>
            <a:endParaRPr lang="en-US" sz="1600" dirty="0"/>
          </a:p>
        </p:txBody>
      </p:sp>
      <p:sp>
        <p:nvSpPr>
          <p:cNvPr id="14" name="cartao-12"/>
          <p:cNvSpPr/>
          <p:nvPr/>
        </p:nvSpPr>
        <p:spPr>
          <a:xfrm>
            <a:off x="7071360" y="2148840"/>
            <a:ext cx="2987040" cy="329184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circulo-13"/>
          <p:cNvSpPr/>
          <p:nvPr/>
        </p:nvSpPr>
        <p:spPr>
          <a:xfrm>
            <a:off x="7391400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circulo-texto-14"/>
          <p:cNvSpPr txBox="1"/>
          <p:nvPr/>
        </p:nvSpPr>
        <p:spPr>
          <a:xfrm>
            <a:off x="73914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card-titulo-15"/>
          <p:cNvSpPr txBox="1"/>
          <p:nvPr/>
        </p:nvSpPr>
        <p:spPr>
          <a:xfrm>
            <a:off x="7391400" y="320040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 proposta</a:t>
            </a:r>
            <a:endParaRPr lang="en-US" sz="2000" dirty="0"/>
          </a:p>
        </p:txBody>
      </p:sp>
      <p:sp>
        <p:nvSpPr>
          <p:cNvPr id="18" name="card-texto-16"/>
          <p:cNvSpPr txBox="1"/>
          <p:nvPr/>
        </p:nvSpPr>
        <p:spPr>
          <a:xfrm>
            <a:off x="7391400" y="3703320"/>
            <a:ext cx="234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Uma plataforma aberta, do servidor público ao dashboard, em que cada número pode ser recontado a partir do dado bruto.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linha-17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PERGUNTA DE PESQUISA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crescimento veio com melhores salários e mais equidade?</a:t>
            </a:r>
            <a:endParaRPr lang="en-US" sz="2800" dirty="0"/>
          </a:p>
        </p:txBody>
      </p:sp>
      <p:sp>
        <p:nvSpPr>
          <p:cNvPr id="4" name="circulo-18"/>
          <p:cNvSpPr/>
          <p:nvPr/>
        </p:nvSpPr>
        <p:spPr>
          <a:xfrm>
            <a:off x="548640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irculo-texto-19"/>
          <p:cNvSpPr txBox="1"/>
          <p:nvPr/>
        </p:nvSpPr>
        <p:spPr>
          <a:xfrm>
            <a:off x="5486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ergunta-20"/>
          <p:cNvSpPr txBox="1"/>
          <p:nvPr/>
        </p:nvSpPr>
        <p:spPr>
          <a:xfrm>
            <a:off x="1325880" y="203911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Quanto o mercado cresceu, e em que ritmo?</a:t>
            </a:r>
            <a:endParaRPr lang="en-US" sz="2000" dirty="0"/>
          </a:p>
        </p:txBody>
      </p:sp>
      <p:sp>
        <p:nvSpPr>
          <p:cNvPr id="7" name="metodo-21"/>
          <p:cNvSpPr txBox="1"/>
          <p:nvPr/>
        </p:nvSpPr>
        <p:spPr>
          <a:xfrm>
            <a:off x="7315200" y="203911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Estoque RAIS e fluxo CAGED</a:t>
            </a:r>
            <a:endParaRPr lang="en-US" sz="1500" dirty="0"/>
          </a:p>
        </p:txBody>
      </p:sp>
      <p:sp>
        <p:nvSpPr>
          <p:cNvPr id="8" name="circulo-22"/>
          <p:cNvSpPr/>
          <p:nvPr/>
        </p:nvSpPr>
        <p:spPr>
          <a:xfrm>
            <a:off x="548640" y="284378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irculo-texto-23"/>
          <p:cNvSpPr txBox="1"/>
          <p:nvPr/>
        </p:nvSpPr>
        <p:spPr>
          <a:xfrm>
            <a:off x="548640" y="2843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pergunta-24"/>
          <p:cNvSpPr txBox="1"/>
          <p:nvPr/>
        </p:nvSpPr>
        <p:spPr>
          <a:xfrm>
            <a:off x="1325880" y="2825496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Onde está o trabalho de TI?</a:t>
            </a:r>
            <a:endParaRPr lang="en-US" sz="2000" dirty="0"/>
          </a:p>
        </p:txBody>
      </p:sp>
      <p:sp>
        <p:nvSpPr>
          <p:cNvPr id="11" name="metodo-25"/>
          <p:cNvSpPr txBox="1"/>
          <p:nvPr/>
        </p:nvSpPr>
        <p:spPr>
          <a:xfrm>
            <a:off x="7315200" y="2825496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Empresas, ocupações e território</a:t>
            </a:r>
            <a:endParaRPr lang="en-US" sz="1500" dirty="0"/>
          </a:p>
        </p:txBody>
      </p:sp>
      <p:sp>
        <p:nvSpPr>
          <p:cNvPr id="12" name="circulo-26"/>
          <p:cNvSpPr/>
          <p:nvPr/>
        </p:nvSpPr>
        <p:spPr>
          <a:xfrm>
            <a:off x="548640" y="363016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irculo-texto-27"/>
          <p:cNvSpPr txBox="1"/>
          <p:nvPr/>
        </p:nvSpPr>
        <p:spPr>
          <a:xfrm>
            <a:off x="54864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pergunta-28"/>
          <p:cNvSpPr txBox="1"/>
          <p:nvPr/>
        </p:nvSpPr>
        <p:spPr>
          <a:xfrm>
            <a:off x="1325880" y="361188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emprego melhorou em qualidade?</a:t>
            </a:r>
            <a:endParaRPr lang="en-US" sz="2000" dirty="0"/>
          </a:p>
        </p:txBody>
      </p:sp>
      <p:sp>
        <p:nvSpPr>
          <p:cNvPr id="15" name="metodo-29"/>
          <p:cNvSpPr txBox="1"/>
          <p:nvPr/>
        </p:nvSpPr>
        <p:spPr>
          <a:xfrm>
            <a:off x="7315200" y="3611880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Remuneração relativa e permanência</a:t>
            </a:r>
            <a:endParaRPr lang="en-US" sz="1500" dirty="0"/>
          </a:p>
        </p:txBody>
      </p:sp>
      <p:sp>
        <p:nvSpPr>
          <p:cNvPr id="16" name="circulo-30"/>
          <p:cNvSpPr/>
          <p:nvPr/>
        </p:nvSpPr>
        <p:spPr>
          <a:xfrm>
            <a:off x="548640" y="441655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circulo-texto-31"/>
          <p:cNvSpPr txBox="1"/>
          <p:nvPr/>
        </p:nvSpPr>
        <p:spPr>
          <a:xfrm>
            <a:off x="548640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pergunta-32"/>
          <p:cNvSpPr txBox="1"/>
          <p:nvPr/>
        </p:nvSpPr>
        <p:spPr>
          <a:xfrm>
            <a:off x="1325880" y="439826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Quem ganha menos, e por quê?</a:t>
            </a:r>
            <a:endParaRPr lang="en-US" sz="2000" dirty="0"/>
          </a:p>
        </p:txBody>
      </p:sp>
      <p:sp>
        <p:nvSpPr>
          <p:cNvPr id="19" name="metodo-33"/>
          <p:cNvSpPr txBox="1"/>
          <p:nvPr/>
        </p:nvSpPr>
        <p:spPr>
          <a:xfrm>
            <a:off x="7315200" y="4398264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Decomposição de Oaxaca-Blinder</a:t>
            </a:r>
            <a:endParaRPr lang="en-US" sz="1500" dirty="0"/>
          </a:p>
        </p:txBody>
      </p:sp>
      <p:sp>
        <p:nvSpPr>
          <p:cNvPr id="20" name="circulo-34"/>
          <p:cNvSpPr/>
          <p:nvPr/>
        </p:nvSpPr>
        <p:spPr>
          <a:xfrm>
            <a:off x="548640" y="520293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circulo-texto-35"/>
          <p:cNvSpPr txBox="1"/>
          <p:nvPr/>
        </p:nvSpPr>
        <p:spPr>
          <a:xfrm>
            <a:off x="548640" y="5202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pergunta-36"/>
          <p:cNvSpPr txBox="1"/>
          <p:nvPr/>
        </p:nvSpPr>
        <p:spPr>
          <a:xfrm>
            <a:off x="1325880" y="518464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Para onde o mercado vai?</a:t>
            </a:r>
            <a:endParaRPr lang="en-US" sz="2000" dirty="0"/>
          </a:p>
        </p:txBody>
      </p:sp>
      <p:sp>
        <p:nvSpPr>
          <p:cNvPr id="23" name="metodo-37"/>
          <p:cNvSpPr txBox="1"/>
          <p:nvPr/>
        </p:nvSpPr>
        <p:spPr>
          <a:xfrm>
            <a:off x="7315200" y="5184648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SARIMA e nowcast do estoque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linha-38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MÉTODO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CRISP-DM percorrido como ciclo, não como sequência</a:t>
            </a:r>
            <a:endParaRPr lang="en-US" sz="2800" dirty="0"/>
          </a:p>
        </p:txBody>
      </p:sp>
      <p:sp>
        <p:nvSpPr>
          <p:cNvPr id="4" name="fase-39"/>
          <p:cNvSpPr/>
          <p:nvPr/>
        </p:nvSpPr>
        <p:spPr>
          <a:xfrm>
            <a:off x="1783080" y="2148840"/>
            <a:ext cx="146304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ase-texto-40"/>
          <p:cNvSpPr txBox="1"/>
          <p:nvPr/>
        </p:nvSpPr>
        <p:spPr>
          <a:xfrm>
            <a:off x="1783080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Negócio</a:t>
            </a:r>
            <a:endParaRPr lang="en-US" sz="1200" dirty="0"/>
          </a:p>
        </p:txBody>
      </p:sp>
      <p:sp>
        <p:nvSpPr>
          <p:cNvPr id="6" name="fase-41"/>
          <p:cNvSpPr/>
          <p:nvPr/>
        </p:nvSpPr>
        <p:spPr>
          <a:xfrm>
            <a:off x="3010515" y="2857500"/>
            <a:ext cx="146304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ase-texto-42"/>
          <p:cNvSpPr txBox="1"/>
          <p:nvPr/>
        </p:nvSpPr>
        <p:spPr>
          <a:xfrm>
            <a:off x="3010515" y="28575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Entendimento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dos dados</a:t>
            </a:r>
            <a:endParaRPr lang="en-US" sz="1200" dirty="0"/>
          </a:p>
        </p:txBody>
      </p:sp>
      <p:sp>
        <p:nvSpPr>
          <p:cNvPr id="8" name="fase-43"/>
          <p:cNvSpPr/>
          <p:nvPr/>
        </p:nvSpPr>
        <p:spPr>
          <a:xfrm>
            <a:off x="3010515" y="4274820"/>
            <a:ext cx="146304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ase-texto-44"/>
          <p:cNvSpPr txBox="1"/>
          <p:nvPr/>
        </p:nvSpPr>
        <p:spPr>
          <a:xfrm>
            <a:off x="3010515" y="42748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Preparação</a:t>
            </a:r>
            <a:endParaRPr lang="en-US" sz="1200" dirty="0"/>
          </a:p>
        </p:txBody>
      </p:sp>
      <p:sp>
        <p:nvSpPr>
          <p:cNvPr id="10" name="fase-45"/>
          <p:cNvSpPr/>
          <p:nvPr/>
        </p:nvSpPr>
        <p:spPr>
          <a:xfrm>
            <a:off x="1783080" y="4983480"/>
            <a:ext cx="146304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fase-texto-46"/>
          <p:cNvSpPr txBox="1"/>
          <p:nvPr/>
        </p:nvSpPr>
        <p:spPr>
          <a:xfrm>
            <a:off x="1783080" y="4983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Modelagem</a:t>
            </a:r>
            <a:endParaRPr lang="en-US" sz="1200" dirty="0"/>
          </a:p>
        </p:txBody>
      </p:sp>
      <p:sp>
        <p:nvSpPr>
          <p:cNvPr id="12" name="fase-47"/>
          <p:cNvSpPr/>
          <p:nvPr/>
        </p:nvSpPr>
        <p:spPr>
          <a:xfrm>
            <a:off x="555645" y="4274820"/>
            <a:ext cx="146304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fase-texto-48"/>
          <p:cNvSpPr txBox="1"/>
          <p:nvPr/>
        </p:nvSpPr>
        <p:spPr>
          <a:xfrm>
            <a:off x="555645" y="42748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Avaliação</a:t>
            </a:r>
            <a:endParaRPr lang="en-US" sz="1200" dirty="0"/>
          </a:p>
        </p:txBody>
      </p:sp>
      <p:sp>
        <p:nvSpPr>
          <p:cNvPr id="14" name="fase-49"/>
          <p:cNvSpPr/>
          <p:nvPr/>
        </p:nvSpPr>
        <p:spPr>
          <a:xfrm>
            <a:off x="555645" y="2857500"/>
            <a:ext cx="146304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fase-texto-50"/>
          <p:cNvSpPr txBox="1"/>
          <p:nvPr/>
        </p:nvSpPr>
        <p:spPr>
          <a:xfrm>
            <a:off x="555645" y="28575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Implantação</a:t>
            </a:r>
            <a:endParaRPr lang="en-US" sz="1200" dirty="0"/>
          </a:p>
        </p:txBody>
      </p:sp>
      <p:sp>
        <p:nvSpPr>
          <p:cNvPr id="16" name="retornos-total"/>
          <p:cNvSpPr txBox="1"/>
          <p:nvPr/>
        </p:nvSpPr>
        <p:spPr>
          <a:xfrm>
            <a:off x="1874520" y="33832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9</a:t>
            </a:r>
            <a:endParaRPr lang="en-US" sz="3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retornos principais</a:t>
            </a:r>
            <a:endParaRPr lang="en-US" sz="3400" dirty="0"/>
          </a:p>
        </p:txBody>
      </p:sp>
      <p:sp>
        <p:nvSpPr>
          <p:cNvPr id="17" name="retorno-51"/>
          <p:cNvSpPr txBox="1"/>
          <p:nvPr/>
        </p:nvSpPr>
        <p:spPr>
          <a:xfrm>
            <a:off x="5029200" y="201168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Avaliação → Negócio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projeção até 2030 virou horizonte de 18 meses e nowcast do presente</a:t>
            </a:r>
            <a:endParaRPr lang="en-US" sz="1500" dirty="0"/>
          </a:p>
        </p:txBody>
      </p:sp>
      <p:sp>
        <p:nvSpPr>
          <p:cNvPr id="18" name="retorno-52"/>
          <p:cNvSpPr txBox="1"/>
          <p:nvPr/>
        </p:nvSpPr>
        <p:spPr>
          <a:xfrm>
            <a:off x="5029200" y="279806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Avaliação → Preparação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estoque de 2022 implausível: pedaços reconstruídos e recontagem do bruto</a:t>
            </a:r>
            <a:endParaRPr lang="en-US" sz="1500" dirty="0"/>
          </a:p>
        </p:txBody>
      </p:sp>
      <p:sp>
        <p:nvSpPr>
          <p:cNvPr id="19" name="retorno-53"/>
          <p:cNvSpPr txBox="1"/>
          <p:nvPr/>
        </p:nvSpPr>
        <p:spPr>
          <a:xfrm>
            <a:off x="5029200" y="358444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Avaliação → Modelagem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Kaplan-Meier dava 48 anos de emprego: tábua de vida de período</a:t>
            </a:r>
            <a:endParaRPr lang="en-US" sz="1500" dirty="0"/>
          </a:p>
        </p:txBody>
      </p:sp>
      <p:sp>
        <p:nvSpPr>
          <p:cNvPr id="20" name="retorno-54"/>
          <p:cNvSpPr txBox="1"/>
          <p:nvPr/>
        </p:nvSpPr>
        <p:spPr>
          <a:xfrm>
            <a:off x="5029200" y="437083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Dados → novas fontes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dicionários oficiais, CAGED fora do prazo, exclusões, ajustes e o painel do MTE</a:t>
            </a:r>
            <a:endParaRPr lang="en-US" sz="1500" dirty="0"/>
          </a:p>
        </p:txBody>
      </p:sp>
      <p:sp>
        <p:nvSpPr>
          <p:cNvPr id="21" name="retorno-55"/>
          <p:cNvSpPr txBox="1"/>
          <p:nvPr/>
        </p:nvSpPr>
        <p:spPr>
          <a:xfrm>
            <a:off x="5029200" y="515721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Implantação → Negócio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dashboard por base virou um painel por pergunta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linha-56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OS DADOS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Dezenove anos de microdados, filtrados até o recorte de TI</a:t>
            </a:r>
            <a:endParaRPr lang="en-US" sz="2800" dirty="0"/>
          </a:p>
        </p:txBody>
      </p:sp>
      <p:sp>
        <p:nvSpPr>
          <p:cNvPr id="4" name="cartao-57"/>
          <p:cNvSpPr/>
          <p:nvPr/>
        </p:nvSpPr>
        <p:spPr>
          <a:xfrm>
            <a:off x="548640" y="2240280"/>
            <a:ext cx="2171700" cy="2377440"/>
          </a:xfrm>
          <a:prstGeom prst="roundRect">
            <a:avLst>
              <a:gd name="adj" fmla="val 33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ero-58"/>
          <p:cNvSpPr txBox="1"/>
          <p:nvPr/>
        </p:nvSpPr>
        <p:spPr>
          <a:xfrm>
            <a:off x="822960" y="2423160"/>
            <a:ext cx="16230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661 GB</a:t>
            </a:r>
            <a:endParaRPr lang="en-US" sz="3600" dirty="0"/>
          </a:p>
        </p:txBody>
      </p:sp>
      <p:sp>
        <p:nvSpPr>
          <p:cNvPr id="6" name="rotulo-59"/>
          <p:cNvSpPr txBox="1"/>
          <p:nvPr/>
        </p:nvSpPr>
        <p:spPr>
          <a:xfrm>
            <a:off x="822960" y="3246120"/>
            <a:ext cx="16230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microdados em texto, guardados em 56,4 GB de Parquet ZSTD-3 (RAIS 2007–2025, CAGED até ago/2026)</a:t>
            </a:r>
            <a:endParaRPr lang="en-US" sz="1400" dirty="0"/>
          </a:p>
        </p:txBody>
      </p:sp>
      <p:sp>
        <p:nvSpPr>
          <p:cNvPr id="7" name="cartao-60"/>
          <p:cNvSpPr/>
          <p:nvPr/>
        </p:nvSpPr>
        <p:spPr>
          <a:xfrm>
            <a:off x="2994660" y="2240280"/>
            <a:ext cx="2171700" cy="2377440"/>
          </a:xfrm>
          <a:prstGeom prst="roundRect">
            <a:avLst>
              <a:gd name="adj" fmla="val 33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umero-61"/>
          <p:cNvSpPr txBox="1"/>
          <p:nvPr/>
        </p:nvSpPr>
        <p:spPr>
          <a:xfrm>
            <a:off x="3268980" y="2423160"/>
            <a:ext cx="16230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23,8 mi</a:t>
            </a:r>
            <a:endParaRPr lang="en-US" sz="3600" dirty="0"/>
          </a:p>
        </p:txBody>
      </p:sp>
      <p:sp>
        <p:nvSpPr>
          <p:cNvPr id="9" name="rotulo-62"/>
          <p:cNvSpPr txBox="1"/>
          <p:nvPr/>
        </p:nvSpPr>
        <p:spPr>
          <a:xfrm>
            <a:off x="3268980" y="3246120"/>
            <a:ext cx="16230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registros de vínculo da RAIS no recorte de tecnologia</a:t>
            </a:r>
            <a:endParaRPr lang="en-US" sz="1400" dirty="0"/>
          </a:p>
        </p:txBody>
      </p:sp>
      <p:sp>
        <p:nvSpPr>
          <p:cNvPr id="10" name="cartao-63"/>
          <p:cNvSpPr/>
          <p:nvPr/>
        </p:nvSpPr>
        <p:spPr>
          <a:xfrm>
            <a:off x="5440680" y="2240280"/>
            <a:ext cx="2171700" cy="2377440"/>
          </a:xfrm>
          <a:prstGeom prst="roundRect">
            <a:avLst>
              <a:gd name="adj" fmla="val 33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umero-64"/>
          <p:cNvSpPr txBox="1"/>
          <p:nvPr/>
        </p:nvSpPr>
        <p:spPr>
          <a:xfrm>
            <a:off x="5715000" y="2423160"/>
            <a:ext cx="16230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12,1 mi</a:t>
            </a:r>
            <a:endParaRPr lang="en-US" sz="3600" dirty="0"/>
          </a:p>
        </p:txBody>
      </p:sp>
      <p:sp>
        <p:nvSpPr>
          <p:cNvPr id="12" name="rotulo-65"/>
          <p:cNvSpPr txBox="1"/>
          <p:nvPr/>
        </p:nvSpPr>
        <p:spPr>
          <a:xfrm>
            <a:off x="5715000" y="3246120"/>
            <a:ext cx="16230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movimentações do CAGED no recorte de tecnologia</a:t>
            </a:r>
            <a:endParaRPr lang="en-US" sz="1400" dirty="0"/>
          </a:p>
        </p:txBody>
      </p:sp>
      <p:sp>
        <p:nvSpPr>
          <p:cNvPr id="13" name="cartao-66"/>
          <p:cNvSpPr/>
          <p:nvPr/>
        </p:nvSpPr>
        <p:spPr>
          <a:xfrm>
            <a:off x="7886700" y="2240280"/>
            <a:ext cx="2171700" cy="2377440"/>
          </a:xfrm>
          <a:prstGeom prst="roundRect">
            <a:avLst>
              <a:gd name="adj" fmla="val 33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ero-67"/>
          <p:cNvSpPr txBox="1"/>
          <p:nvPr/>
        </p:nvSpPr>
        <p:spPr>
          <a:xfrm>
            <a:off x="8161020" y="2423160"/>
            <a:ext cx="16230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1,3 GB</a:t>
            </a:r>
            <a:endParaRPr lang="en-US" sz="3600" dirty="0"/>
          </a:p>
        </p:txBody>
      </p:sp>
      <p:sp>
        <p:nvSpPr>
          <p:cNvPr id="15" name="rotulo-68"/>
          <p:cNvSpPr txBox="1"/>
          <p:nvPr/>
        </p:nvSpPr>
        <p:spPr>
          <a:xfrm>
            <a:off x="8161020" y="3246120"/>
            <a:ext cx="16230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camada tratada inteira — cabe num navegador e num executor gratuito</a:t>
            </a:r>
            <a:endParaRPr lang="en-US" sz="1400" dirty="0"/>
          </a:p>
        </p:txBody>
      </p:sp>
      <p:sp>
        <p:nvSpPr>
          <p:cNvPr id="16" name="texto-69"/>
          <p:cNvSpPr txBox="1"/>
          <p:nvPr/>
        </p:nvSpPr>
        <p:spPr>
          <a:xfrm>
            <a:off x="548640" y="4892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RAIS: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fotografia anual dos vínculos ativos em 31/12 — o estoque.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CAGED: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admissões e desligamentos mês a mês — o fluxo.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linha-70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RECORTE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Duas lentes em cada registro: a empresa e a ocupação</a:t>
            </a:r>
            <a:endParaRPr lang="en-US" sz="2800" dirty="0"/>
          </a:p>
        </p:txBody>
      </p:sp>
      <p:sp>
        <p:nvSpPr>
          <p:cNvPr id="4" name="lente-setor"/>
          <p:cNvSpPr/>
          <p:nvPr/>
        </p:nvSpPr>
        <p:spPr>
          <a:xfrm>
            <a:off x="731520" y="2148840"/>
            <a:ext cx="3566160" cy="3566160"/>
          </a:xfrm>
          <a:prstGeom prst="ellipse">
            <a:avLst/>
          </a:prstGeom>
          <a:solidFill>
            <a:schemeClr val="tx1">
              <a:alpha val="92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lente-ocupacao"/>
          <p:cNvSpPr/>
          <p:nvPr/>
        </p:nvSpPr>
        <p:spPr>
          <a:xfrm>
            <a:off x="2926080" y="2148840"/>
            <a:ext cx="3566160" cy="3566160"/>
          </a:xfrm>
          <a:prstGeom prst="ellipse">
            <a:avLst/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lente-setor-rotulo"/>
          <p:cNvSpPr txBox="1"/>
          <p:nvPr/>
        </p:nvSpPr>
        <p:spPr>
          <a:xfrm>
            <a:off x="868680" y="3429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Empresa de TI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(CNAE)</a:t>
            </a:r>
            <a:endParaRPr lang="en-US" sz="1500" dirty="0"/>
          </a:p>
        </p:txBody>
      </p:sp>
      <p:sp>
        <p:nvSpPr>
          <p:cNvPr id="7" name="lente-ocupacao-rotulo"/>
          <p:cNvSpPr txBox="1"/>
          <p:nvPr/>
        </p:nvSpPr>
        <p:spPr>
          <a:xfrm>
            <a:off x="4434840" y="3429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Ocupação de TI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(CBO)</a:t>
            </a:r>
            <a:endParaRPr lang="en-US" sz="1500" dirty="0"/>
          </a:p>
        </p:txBody>
      </p:sp>
      <p:sp>
        <p:nvSpPr>
          <p:cNvPr id="8" name="lente-ambas"/>
          <p:cNvSpPr txBox="1"/>
          <p:nvPr/>
        </p:nvSpPr>
        <p:spPr>
          <a:xfrm>
            <a:off x="297180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ambas</a:t>
            </a:r>
            <a:endParaRPr lang="en-US" sz="1500" dirty="0"/>
          </a:p>
        </p:txBody>
      </p:sp>
      <p:sp>
        <p:nvSpPr>
          <p:cNvPr id="9" name="numero-71"/>
          <p:cNvSpPr txBox="1"/>
          <p:nvPr/>
        </p:nvSpPr>
        <p:spPr>
          <a:xfrm>
            <a:off x="6949440" y="2011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548.424</a:t>
            </a:r>
            <a:endParaRPr lang="en-US" sz="3000" dirty="0"/>
          </a:p>
        </p:txBody>
      </p:sp>
      <p:sp>
        <p:nvSpPr>
          <p:cNvPr id="10" name="rotulo-72"/>
          <p:cNvSpPr txBox="1"/>
          <p:nvPr/>
        </p:nvSpPr>
        <p:spPr>
          <a:xfrm>
            <a:off x="6949440" y="2606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profissionais de TI fora de empresas de TI</a:t>
            </a:r>
            <a:endParaRPr lang="en-US" sz="1400" dirty="0"/>
          </a:p>
        </p:txBody>
      </p:sp>
      <p:sp>
        <p:nvSpPr>
          <p:cNvPr id="11" name="numero-73"/>
          <p:cNvSpPr txBox="1"/>
          <p:nvPr/>
        </p:nvSpPr>
        <p:spPr>
          <a:xfrm>
            <a:off x="6949440" y="3291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395.467</a:t>
            </a:r>
            <a:endParaRPr lang="en-US" sz="3000" dirty="0"/>
          </a:p>
        </p:txBody>
      </p:sp>
      <p:sp>
        <p:nvSpPr>
          <p:cNvPr id="12" name="rotulo-74"/>
          <p:cNvSpPr txBox="1"/>
          <p:nvPr/>
        </p:nvSpPr>
        <p:spPr>
          <a:xfrm>
            <a:off x="694944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profissionais de TI em empresas de TI</a:t>
            </a:r>
            <a:endParaRPr lang="en-US" sz="1400" dirty="0"/>
          </a:p>
        </p:txBody>
      </p:sp>
      <p:sp>
        <p:nvSpPr>
          <p:cNvPr id="13" name="numero-75"/>
          <p:cNvSpPr txBox="1"/>
          <p:nvPr/>
        </p:nvSpPr>
        <p:spPr>
          <a:xfrm>
            <a:off x="6949440" y="4572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417.340</a:t>
            </a:r>
            <a:endParaRPr lang="en-US" sz="3000" dirty="0"/>
          </a:p>
        </p:txBody>
      </p:sp>
      <p:sp>
        <p:nvSpPr>
          <p:cNvPr id="14" name="rotulo-76"/>
          <p:cNvSpPr txBox="1"/>
          <p:nvPr/>
        </p:nvSpPr>
        <p:spPr>
          <a:xfrm>
            <a:off x="6949440" y="5166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outras ocupações dentro de empresas de TI</a:t>
            </a:r>
            <a:endParaRPr lang="en-US" sz="1400" dirty="0"/>
          </a:p>
        </p:txBody>
      </p:sp>
      <p:sp>
        <p:nvSpPr>
          <p:cNvPr id="15" name="fonte-77"/>
          <p:cNvSpPr txBox="1"/>
          <p:nvPr/>
        </p:nvSpPr>
        <p:spPr>
          <a:xfrm>
            <a:off x="1188720" y="6281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RAIS 2025, vínculos ativos em 31/12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linha-78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ARQUITETURA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Medalhão em nuvem, sem servidor e sem custo</a:t>
            </a:r>
            <a:endParaRPr lang="en-US" sz="2800" dirty="0"/>
          </a:p>
        </p:txBody>
      </p:sp>
      <p:sp>
        <p:nvSpPr>
          <p:cNvPr id="4" name="cartao-79"/>
          <p:cNvSpPr/>
          <p:nvPr/>
        </p:nvSpPr>
        <p:spPr>
          <a:xfrm>
            <a:off x="548640" y="2194560"/>
            <a:ext cx="1627632" cy="1737360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tapa-80"/>
          <p:cNvSpPr txBox="1"/>
          <p:nvPr/>
        </p:nvSpPr>
        <p:spPr>
          <a:xfrm>
            <a:off x="685800" y="2331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Servidor MTE</a:t>
            </a:r>
            <a:endParaRPr lang="en-US" sz="1800" dirty="0"/>
          </a:p>
        </p:txBody>
      </p:sp>
      <p:sp>
        <p:nvSpPr>
          <p:cNvPr id="6" name="etapa-texto-81"/>
          <p:cNvSpPr txBox="1"/>
          <p:nvPr/>
        </p:nvSpPr>
        <p:spPr>
          <a:xfrm>
            <a:off x="685800" y="278892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FTP público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 PDET</a:t>
            </a:r>
            <a:endParaRPr lang="en-US" sz="1300" dirty="0"/>
          </a:p>
        </p:txBody>
      </p:sp>
      <p:sp>
        <p:nvSpPr>
          <p:cNvPr id="7" name="seta-82"/>
          <p:cNvSpPr/>
          <p:nvPr/>
        </p:nvSpPr>
        <p:spPr>
          <a:xfrm>
            <a:off x="2221992" y="2926080"/>
            <a:ext cx="155448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artao-83"/>
          <p:cNvSpPr/>
          <p:nvPr/>
        </p:nvSpPr>
        <p:spPr>
          <a:xfrm>
            <a:off x="2423160" y="2194560"/>
            <a:ext cx="1627632" cy="1737360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tapa-84"/>
          <p:cNvSpPr txBox="1"/>
          <p:nvPr/>
        </p:nvSpPr>
        <p:spPr>
          <a:xfrm>
            <a:off x="2560320" y="2331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Bronze</a:t>
            </a:r>
            <a:endParaRPr lang="en-US" sz="1800" dirty="0"/>
          </a:p>
        </p:txBody>
      </p:sp>
      <p:sp>
        <p:nvSpPr>
          <p:cNvPr id="10" name="etapa-texto-85"/>
          <p:cNvSpPr txBox="1"/>
          <p:nvPr/>
        </p:nvSpPr>
        <p:spPr>
          <a:xfrm>
            <a:off x="2560320" y="278892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Parquet sem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alteração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56 GB</a:t>
            </a:r>
            <a:endParaRPr lang="en-US" sz="1300" dirty="0"/>
          </a:p>
        </p:txBody>
      </p:sp>
      <p:sp>
        <p:nvSpPr>
          <p:cNvPr id="11" name="seta-86"/>
          <p:cNvSpPr/>
          <p:nvPr/>
        </p:nvSpPr>
        <p:spPr>
          <a:xfrm>
            <a:off x="4096512" y="2926080"/>
            <a:ext cx="155448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artao-87"/>
          <p:cNvSpPr/>
          <p:nvPr/>
        </p:nvSpPr>
        <p:spPr>
          <a:xfrm>
            <a:off x="4297680" y="2194560"/>
            <a:ext cx="1627632" cy="1737360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etapa-88"/>
          <p:cNvSpPr txBox="1"/>
          <p:nvPr/>
        </p:nvSpPr>
        <p:spPr>
          <a:xfrm>
            <a:off x="4434840" y="2331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Silver de TI</a:t>
            </a:r>
            <a:endParaRPr lang="en-US" sz="1800" dirty="0"/>
          </a:p>
        </p:txBody>
      </p:sp>
      <p:sp>
        <p:nvSpPr>
          <p:cNvPr id="14" name="etapa-texto-89"/>
          <p:cNvSpPr txBox="1"/>
          <p:nvPr/>
        </p:nvSpPr>
        <p:spPr>
          <a:xfrm>
            <a:off x="4434840" y="278892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recorte + tradução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 dicionário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1,3 GB</a:t>
            </a:r>
            <a:endParaRPr lang="en-US" sz="1300" dirty="0"/>
          </a:p>
        </p:txBody>
      </p:sp>
      <p:sp>
        <p:nvSpPr>
          <p:cNvPr id="15" name="seta-90"/>
          <p:cNvSpPr/>
          <p:nvPr/>
        </p:nvSpPr>
        <p:spPr>
          <a:xfrm>
            <a:off x="5971032" y="2926080"/>
            <a:ext cx="155448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cartao-91"/>
          <p:cNvSpPr/>
          <p:nvPr/>
        </p:nvSpPr>
        <p:spPr>
          <a:xfrm>
            <a:off x="6172200" y="2194560"/>
            <a:ext cx="1627632" cy="1737360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etapa-92"/>
          <p:cNvSpPr txBox="1"/>
          <p:nvPr/>
        </p:nvSpPr>
        <p:spPr>
          <a:xfrm>
            <a:off x="6309360" y="2331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Gold</a:t>
            </a:r>
            <a:endParaRPr lang="en-US" sz="1800" dirty="0"/>
          </a:p>
        </p:txBody>
      </p:sp>
      <p:sp>
        <p:nvSpPr>
          <p:cNvPr id="18" name="etapa-texto-93"/>
          <p:cNvSpPr txBox="1"/>
          <p:nvPr/>
        </p:nvSpPr>
        <p:spPr>
          <a:xfrm>
            <a:off x="6309360" y="278892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30 agregados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 modelos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&lt; 10 MB</a:t>
            </a:r>
            <a:endParaRPr lang="en-US" sz="1300" dirty="0"/>
          </a:p>
        </p:txBody>
      </p:sp>
      <p:sp>
        <p:nvSpPr>
          <p:cNvPr id="19" name="seta-94"/>
          <p:cNvSpPr/>
          <p:nvPr/>
        </p:nvSpPr>
        <p:spPr>
          <a:xfrm>
            <a:off x="7845552" y="2926080"/>
            <a:ext cx="155448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cartao-95"/>
          <p:cNvSpPr/>
          <p:nvPr/>
        </p:nvSpPr>
        <p:spPr>
          <a:xfrm>
            <a:off x="8046720" y="2194560"/>
            <a:ext cx="1627632" cy="1737360"/>
          </a:xfrm>
          <a:prstGeom prst="roundRect">
            <a:avLst>
              <a:gd name="adj" fmla="val 449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etapa-96"/>
          <p:cNvSpPr txBox="1"/>
          <p:nvPr/>
        </p:nvSpPr>
        <p:spPr>
          <a:xfrm>
            <a:off x="8183880" y="2331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Dashboard</a:t>
            </a:r>
            <a:endParaRPr lang="en-US" sz="1800" dirty="0"/>
          </a:p>
        </p:txBody>
      </p:sp>
      <p:sp>
        <p:nvSpPr>
          <p:cNvPr id="22" name="etapa-texto-97"/>
          <p:cNvSpPr txBox="1"/>
          <p:nvPr/>
        </p:nvSpPr>
        <p:spPr>
          <a:xfrm>
            <a:off x="8183880" y="278892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React 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DuckDB-Wasm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Cloudflare</a:t>
            </a:r>
            <a:endParaRPr lang="en-US" sz="1300" dirty="0"/>
          </a:p>
        </p:txBody>
      </p:sp>
      <p:sp>
        <p:nvSpPr>
          <p:cNvPr id="23" name="marcador-98"/>
          <p:cNvSpPr/>
          <p:nvPr/>
        </p:nvSpPr>
        <p:spPr>
          <a:xfrm>
            <a:off x="548640" y="436168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base-99"/>
          <p:cNvSpPr txBox="1"/>
          <p:nvPr/>
        </p:nvSpPr>
        <p:spPr>
          <a:xfrm>
            <a:off x="914400" y="4251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Hugging Face Hub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 seis camadas são repositórios públicos de dados: o data lake é também o dado aberto</a:t>
            </a:r>
            <a:endParaRPr lang="en-US" sz="1500" dirty="0"/>
          </a:p>
        </p:txBody>
      </p:sp>
      <p:sp>
        <p:nvSpPr>
          <p:cNvPr id="25" name="marcador-100"/>
          <p:cNvSpPr/>
          <p:nvPr/>
        </p:nvSpPr>
        <p:spPr>
          <a:xfrm>
            <a:off x="548640" y="4928616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base-101"/>
          <p:cNvSpPr txBox="1"/>
          <p:nvPr/>
        </p:nvSpPr>
        <p:spPr>
          <a:xfrm>
            <a:off x="914400" y="481888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GitHub Actions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workflows encadeados por dependência; verificação semanal reprocessa só os anos com dado novo</a:t>
            </a:r>
            <a:endParaRPr lang="en-US" sz="1500" dirty="0"/>
          </a:p>
        </p:txBody>
      </p:sp>
      <p:sp>
        <p:nvSpPr>
          <p:cNvPr id="27" name="marcador-102"/>
          <p:cNvSpPr/>
          <p:nvPr/>
        </p:nvSpPr>
        <p:spPr>
          <a:xfrm>
            <a:off x="548640" y="5495544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base-103"/>
          <p:cNvSpPr txBox="1"/>
          <p:nvPr/>
        </p:nvSpPr>
        <p:spPr>
          <a:xfrm>
            <a:off x="914400" y="538581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DuckDB + Parquet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consulta no próprio arquivo, sem importar; 2.111 arquivos consolidados em um por partição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linha-104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VALIDAÇÃO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Cada número pode ser recontado a partir da fonte</a:t>
            </a:r>
            <a:endParaRPr lang="en-US" sz="2800" dirty="0"/>
          </a:p>
        </p:txBody>
      </p:sp>
      <p:sp>
        <p:nvSpPr>
          <p:cNvPr id="4" name="cartao-105"/>
          <p:cNvSpPr/>
          <p:nvPr/>
        </p:nvSpPr>
        <p:spPr>
          <a:xfrm>
            <a:off x="548640" y="2148840"/>
            <a:ext cx="4572000" cy="3566160"/>
          </a:xfrm>
          <a:prstGeom prst="roundRect">
            <a:avLst>
              <a:gd name="adj" fmla="val 205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rep-rotulo"/>
          <p:cNvSpPr txBox="1"/>
          <p:nvPr/>
        </p:nvSpPr>
        <p:spPr>
          <a:xfrm>
            <a:off x="914400" y="2377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diferença zero</a:t>
            </a:r>
            <a:endParaRPr lang="en-US" sz="1800" dirty="0"/>
          </a:p>
        </p:txBody>
      </p:sp>
      <p:sp>
        <p:nvSpPr>
          <p:cNvPr id="6" name="rep-numeros"/>
          <p:cNvSpPr txBox="1"/>
          <p:nvPr/>
        </p:nvSpPr>
        <p:spPr>
          <a:xfrm>
            <a:off x="914400" y="288036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35,9 milhões</a:t>
            </a:r>
            <a:endParaRPr lang="en-US" sz="3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 registros recontados no dado bruto (RAIS e CAGED, todos os anos, 960 arquivos), iguais aos publicados</a:t>
            </a:r>
            <a:endParaRPr lang="en-US" sz="34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34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206.950</a:t>
            </a:r>
            <a:endParaRPr lang="en-US" sz="3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linhas duplicadas de 2007 no CAGED, achadas pela recontagem e corrigidas: o teste de um mês não as veria</a:t>
            </a:r>
            <a:endParaRPr lang="en-US" sz="3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0" y="2057400"/>
          <a:ext cx="45720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o-106"/>
          <p:cNvSpPr txBox="1"/>
          <p:nvPr/>
        </p:nvSpPr>
        <p:spPr>
          <a:xfrm>
            <a:off x="5486400" y="4846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Diferença pequena, sempre positiva e espalhada por todos os estados e ocupações: critério de contagem, não erro de processamento. No Novo CAGED, de +0,7% a +2,2%.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linha-107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ACHADOS DE QUALIDADE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Nenhum destes defeitos produz mensagem de erro</a:t>
            </a:r>
            <a:endParaRPr lang="en-US" sz="2800" dirty="0"/>
          </a:p>
        </p:txBody>
      </p:sp>
      <p:sp>
        <p:nvSpPr>
          <p:cNvPr id="4" name="cartao-108"/>
          <p:cNvSpPr/>
          <p:nvPr/>
        </p:nvSpPr>
        <p:spPr>
          <a:xfrm>
            <a:off x="548640" y="2057400"/>
            <a:ext cx="46177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chado-109"/>
          <p:cNvSpPr txBox="1"/>
          <p:nvPr/>
        </p:nvSpPr>
        <p:spPr>
          <a:xfrm>
            <a:off x="822960" y="2240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Ingestão parcial</a:t>
            </a:r>
            <a:endParaRPr lang="en-US" sz="1900" dirty="0"/>
          </a:p>
        </p:txBody>
      </p:sp>
      <p:sp>
        <p:nvSpPr>
          <p:cNvPr id="6" name="achado-tag-110"/>
          <p:cNvSpPr txBox="1"/>
          <p:nvPr/>
        </p:nvSpPr>
        <p:spPr>
          <a:xfrm>
            <a:off x="3337560" y="2258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Fonte e processo</a:t>
            </a:r>
            <a:endParaRPr lang="en-US" sz="1200" dirty="0"/>
          </a:p>
        </p:txBody>
      </p:sp>
      <p:sp>
        <p:nvSpPr>
          <p:cNvPr id="7" name="achado-texto-111"/>
          <p:cNvSpPr txBox="1"/>
          <p:nvPr/>
        </p:nvSpPr>
        <p:spPr>
          <a:xfrm>
            <a:off x="822960" y="2715768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Sete pedaços de dois arquivos de 2022 não chegaram à camada: 446.267 vínculos. A auditoria por arquivo dizia que estava tudo lá.</a:t>
            </a:r>
            <a:endParaRPr lang="en-US" sz="1500" dirty="0"/>
          </a:p>
        </p:txBody>
      </p:sp>
      <p:sp>
        <p:nvSpPr>
          <p:cNvPr id="8" name="cartao-112"/>
          <p:cNvSpPr/>
          <p:nvPr/>
        </p:nvSpPr>
        <p:spPr>
          <a:xfrm>
            <a:off x="5440680" y="2057400"/>
            <a:ext cx="46177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chado-113"/>
          <p:cNvSpPr txBox="1"/>
          <p:nvPr/>
        </p:nvSpPr>
        <p:spPr>
          <a:xfrm>
            <a:off x="5715000" y="2240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Salário mínimo invertido</a:t>
            </a:r>
            <a:endParaRPr lang="en-US" sz="1900" dirty="0"/>
          </a:p>
        </p:txBody>
      </p:sp>
      <p:sp>
        <p:nvSpPr>
          <p:cNvPr id="10" name="achado-tag-114"/>
          <p:cNvSpPr txBox="1"/>
          <p:nvPr/>
        </p:nvSpPr>
        <p:spPr>
          <a:xfrm>
            <a:off x="8229600" y="2258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Fonte</a:t>
            </a:r>
            <a:endParaRPr lang="en-US" sz="1200" dirty="0"/>
          </a:p>
        </p:txBody>
      </p:sp>
      <p:sp>
        <p:nvSpPr>
          <p:cNvPr id="11" name="achado-texto-115"/>
          <p:cNvSpPr txBox="1"/>
          <p:nvPr/>
        </p:nvSpPr>
        <p:spPr>
          <a:xfrm>
            <a:off x="5715000" y="2715768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Desde 2023, registros da RAIS trazem a conversão para salários mínimos invertida: 222, 205 e 94 casos por ano.</a:t>
            </a:r>
            <a:endParaRPr lang="en-US" sz="1500" dirty="0"/>
          </a:p>
        </p:txBody>
      </p:sp>
      <p:sp>
        <p:nvSpPr>
          <p:cNvPr id="12" name="cartao-116"/>
          <p:cNvSpPr/>
          <p:nvPr/>
        </p:nvSpPr>
        <p:spPr>
          <a:xfrm>
            <a:off x="548640" y="4114800"/>
            <a:ext cx="46177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achado-117"/>
          <p:cNvSpPr txBox="1"/>
          <p:nvPr/>
        </p:nvSpPr>
        <p:spPr>
          <a:xfrm>
            <a:off x="822960" y="4297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Código sem dicionário</a:t>
            </a:r>
            <a:endParaRPr lang="en-US" sz="1900" dirty="0"/>
          </a:p>
        </p:txBody>
      </p:sp>
      <p:sp>
        <p:nvSpPr>
          <p:cNvPr id="14" name="achado-tag-118"/>
          <p:cNvSpPr txBox="1"/>
          <p:nvPr/>
        </p:nvSpPr>
        <p:spPr>
          <a:xfrm>
            <a:off x="3337560" y="4315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Fonte</a:t>
            </a:r>
            <a:endParaRPr lang="en-US" sz="1200" dirty="0"/>
          </a:p>
        </p:txBody>
      </p:sp>
      <p:sp>
        <p:nvSpPr>
          <p:cNvPr id="15" name="achado-texto-119"/>
          <p:cNvSpPr txBox="1"/>
          <p:nvPr/>
        </p:nvSpPr>
        <p:spPr>
          <a:xfrm>
            <a:off x="822960" y="4773168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CBO 211220 tem milhares de vínculos no microdado e não está em nenhum dicionário oficial do MTE.</a:t>
            </a:r>
            <a:endParaRPr lang="en-US" sz="1500" dirty="0"/>
          </a:p>
        </p:txBody>
      </p:sp>
      <p:sp>
        <p:nvSpPr>
          <p:cNvPr id="16" name="cartao-120"/>
          <p:cNvSpPr/>
          <p:nvPr/>
        </p:nvSpPr>
        <p:spPr>
          <a:xfrm>
            <a:off x="5440680" y="4114800"/>
            <a:ext cx="4617720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achado-121"/>
          <p:cNvSpPr txBox="1"/>
          <p:nvPr/>
        </p:nvSpPr>
        <p:spPr>
          <a:xfrm>
            <a:off x="5715000" y="4297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Mediana por média</a:t>
            </a:r>
            <a:endParaRPr lang="en-US" sz="1900" dirty="0"/>
          </a:p>
        </p:txBody>
      </p:sp>
      <p:sp>
        <p:nvSpPr>
          <p:cNvPr id="18" name="achado-tag-122"/>
          <p:cNvSpPr txBox="1"/>
          <p:nvPr/>
        </p:nvSpPr>
        <p:spPr>
          <a:xfrm>
            <a:off x="8229600" y="4315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Método próprio</a:t>
            </a:r>
            <a:endParaRPr lang="en-US" sz="1200" dirty="0"/>
          </a:p>
        </p:txBody>
      </p:sp>
      <p:sp>
        <p:nvSpPr>
          <p:cNvPr id="19" name="achado-texto-123"/>
          <p:cNvSpPr txBox="1"/>
          <p:nvPr/>
        </p:nvSpPr>
        <p:spPr>
          <a:xfrm>
            <a:off x="5715000" y="4773168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Média das medianas dos grupos: 3,55 SM em 2025, contra 3,41 da mediana exata — e invertia a comparação entre as lentes.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linha-124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PERGUNTA 1 · CRESCIMENTO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estoque mais que dobrou, com o salto em 2021–2022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6596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numero-125"/>
          <p:cNvSpPr txBox="1"/>
          <p:nvPr/>
        </p:nvSpPr>
        <p:spPr>
          <a:xfrm>
            <a:off x="7498080" y="20574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+143%</a:t>
            </a:r>
            <a:endParaRPr lang="en-US" sz="4800" dirty="0"/>
          </a:p>
        </p:txBody>
      </p:sp>
      <p:sp>
        <p:nvSpPr>
          <p:cNvPr id="6" name="rotulo-126"/>
          <p:cNvSpPr txBox="1"/>
          <p:nvPr/>
        </p:nvSpPr>
        <p:spPr>
          <a:xfrm>
            <a:off x="7498080" y="2880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560.040 (2007) para 1.361.231 (2025)</a:t>
            </a:r>
            <a:endParaRPr lang="en-US" sz="1400" dirty="0"/>
          </a:p>
        </p:txBody>
      </p:sp>
      <p:sp>
        <p:nvSpPr>
          <p:cNvPr id="7" name="numero-127"/>
          <p:cNvSpPr txBox="1"/>
          <p:nvPr/>
        </p:nvSpPr>
        <p:spPr>
          <a:xfrm>
            <a:off x="7498080" y="3703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670.691</a:t>
            </a:r>
            <a:endParaRPr lang="en-US" sz="3400" dirty="0"/>
          </a:p>
        </p:txBody>
      </p:sp>
      <p:sp>
        <p:nvSpPr>
          <p:cNvPr id="8" name="rotulo-128"/>
          <p:cNvSpPr txBox="1"/>
          <p:nvPr/>
        </p:nvSpPr>
        <p:spPr>
          <a:xfrm>
            <a:off x="7498080" y="4389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vagas líquidas no CAGED, jan/2007 a ago/2026</a:t>
            </a:r>
            <a:endParaRPr lang="en-US" sz="1400" dirty="0"/>
          </a:p>
        </p:txBody>
      </p:sp>
      <p:sp>
        <p:nvSpPr>
          <p:cNvPr id="9" name="texto-129"/>
          <p:cNvSpPr txBox="1"/>
          <p:nvPr/>
        </p:nvSpPr>
        <p:spPr>
          <a:xfrm>
            <a:off x="7498080" y="5257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Depois de 2022, o ritmo desacelera.</a:t>
            </a:r>
            <a:endParaRPr lang="en-US" sz="1500" dirty="0"/>
          </a:p>
        </p:txBody>
      </p:sp>
      <p:sp>
        <p:nvSpPr>
          <p:cNvPr id="10" name="fonte-130"/>
          <p:cNvSpPr txBox="1"/>
          <p:nvPr/>
        </p:nvSpPr>
        <p:spPr>
          <a:xfrm>
            <a:off x="1188720" y="6281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Fonte: RAIS e CAGED, MTE; elaboração própria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linha-131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PERGUNTA 2 · ONDE ESTÁ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TI deixou de ser um setor para virar uma função</a:t>
            </a:r>
            <a:endParaRPr lang="en-US" sz="2800" dirty="0"/>
          </a:p>
        </p:txBody>
      </p:sp>
      <p:sp>
        <p:nvSpPr>
          <p:cNvPr id="4" name="numero-132"/>
          <p:cNvSpPr txBox="1"/>
          <p:nvPr/>
        </p:nvSpPr>
        <p:spPr>
          <a:xfrm>
            <a:off x="548640" y="2057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58%</a:t>
            </a:r>
            <a:endParaRPr lang="en-US" sz="7200" dirty="0"/>
          </a:p>
        </p:txBody>
      </p:sp>
      <p:sp>
        <p:nvSpPr>
          <p:cNvPr id="5" name="rotulo-133"/>
          <p:cNvSpPr txBox="1"/>
          <p:nvPr/>
        </p:nvSpPr>
        <p:spPr>
          <a:xfrm>
            <a:off x="548640" y="32004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dos profissionais de TI trabalham fora de empresas de TI — em bancos, varejo, indústria, saúde e governo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023360" y="1965960"/>
          <a:ext cx="60350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o-134"/>
          <p:cNvSpPr txBox="1"/>
          <p:nvPr/>
        </p:nvSpPr>
        <p:spPr>
          <a:xfrm>
            <a:off x="4023360" y="48920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Fora do setor, o salário é próximo e a permanência é maior: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59 meses de emprego, contra 43. Em 2007, quem estava dentro ganhava bem mais (5,47 contra 4,22 SM); o prêmio do setor encolheu.</a:t>
            </a:r>
            <a:endParaRPr lang="en-US" sz="1500" dirty="0"/>
          </a:p>
        </p:txBody>
      </p:sp>
      <p:sp>
        <p:nvSpPr>
          <p:cNvPr id="8" name="fonte-135"/>
          <p:cNvSpPr txBox="1"/>
          <p:nvPr/>
        </p:nvSpPr>
        <p:spPr>
          <a:xfrm>
            <a:off x="1188720" y="6281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Fonte: RAIS 2025; mediana exata sobre os vínculos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linha-136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PERGUNTA 2 · TERRITÓRIO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São Paulo concentra; o interior cresce mais rápido</a:t>
            </a:r>
            <a:endParaRPr lang="en-US" sz="2800" dirty="0"/>
          </a:p>
        </p:txBody>
      </p:sp>
      <p:sp>
        <p:nvSpPr>
          <p:cNvPr id="4" name="cartao-137"/>
          <p:cNvSpPr/>
          <p:nvPr/>
        </p:nvSpPr>
        <p:spPr>
          <a:xfrm>
            <a:off x="548640" y="2057400"/>
            <a:ext cx="46177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ero-138"/>
          <p:cNvSpPr txBox="1"/>
          <p:nvPr/>
        </p:nvSpPr>
        <p:spPr>
          <a:xfrm>
            <a:off x="822960" y="219456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40,9%</a:t>
            </a:r>
            <a:endParaRPr lang="en-US" sz="3400" dirty="0"/>
          </a:p>
        </p:txBody>
      </p:sp>
      <p:sp>
        <p:nvSpPr>
          <p:cNvPr id="6" name="rotulo-139"/>
          <p:cNvSpPr txBox="1"/>
          <p:nvPr/>
        </p:nvSpPr>
        <p:spPr>
          <a:xfrm>
            <a:off x="822960" y="29260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 estoque nacional está em São Paulo; as cinco maiores UFs somam quase 70%</a:t>
            </a:r>
            <a:endParaRPr lang="en-US" sz="1400" dirty="0"/>
          </a:p>
        </p:txBody>
      </p:sp>
      <p:sp>
        <p:nvSpPr>
          <p:cNvPr id="7" name="cartao-140"/>
          <p:cNvSpPr/>
          <p:nvPr/>
        </p:nvSpPr>
        <p:spPr>
          <a:xfrm>
            <a:off x="5440680" y="2057400"/>
            <a:ext cx="46177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umero-141"/>
          <p:cNvSpPr txBox="1"/>
          <p:nvPr/>
        </p:nvSpPr>
        <p:spPr>
          <a:xfrm>
            <a:off x="5715000" y="219456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+154% × +136%</a:t>
            </a:r>
            <a:endParaRPr lang="en-US" sz="3400" dirty="0"/>
          </a:p>
        </p:txBody>
      </p:sp>
      <p:sp>
        <p:nvSpPr>
          <p:cNvPr id="9" name="rotulo-142"/>
          <p:cNvSpPr txBox="1"/>
          <p:nvPr/>
        </p:nvSpPr>
        <p:spPr>
          <a:xfrm>
            <a:off x="5715000" y="29260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crescimento 2007–2025 de SP e do Brasil sem SP: a conclusão não depende de SP</a:t>
            </a:r>
            <a:endParaRPr lang="en-US" sz="1400" dirty="0"/>
          </a:p>
        </p:txBody>
      </p:sp>
      <p:sp>
        <p:nvSpPr>
          <p:cNvPr id="10" name="cartao-143"/>
          <p:cNvSpPr/>
          <p:nvPr/>
        </p:nvSpPr>
        <p:spPr>
          <a:xfrm>
            <a:off x="548640" y="4069080"/>
            <a:ext cx="46177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umero-144"/>
          <p:cNvSpPr txBox="1"/>
          <p:nvPr/>
        </p:nvSpPr>
        <p:spPr>
          <a:xfrm>
            <a:off x="822960" y="42062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4,85 × 2,66 SM</a:t>
            </a:r>
            <a:endParaRPr lang="en-US" sz="3400" dirty="0"/>
          </a:p>
        </p:txBody>
      </p:sp>
      <p:sp>
        <p:nvSpPr>
          <p:cNvPr id="12" name="rotulo-145"/>
          <p:cNvSpPr txBox="1"/>
          <p:nvPr/>
        </p:nvSpPr>
        <p:spPr>
          <a:xfrm>
            <a:off x="822960" y="4937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mediana em 2025: SP subiu desde 2007 (4,20), o resto do país caiu (2,81)</a:t>
            </a:r>
            <a:endParaRPr lang="en-US" sz="1400" dirty="0"/>
          </a:p>
        </p:txBody>
      </p:sp>
      <p:sp>
        <p:nvSpPr>
          <p:cNvPr id="13" name="cartao-146"/>
          <p:cNvSpPr/>
          <p:nvPr/>
        </p:nvSpPr>
        <p:spPr>
          <a:xfrm>
            <a:off x="5440680" y="4069080"/>
            <a:ext cx="46177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ero-147"/>
          <p:cNvSpPr txBox="1"/>
          <p:nvPr/>
        </p:nvSpPr>
        <p:spPr>
          <a:xfrm>
            <a:off x="5715000" y="42062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+54% × +38%</a:t>
            </a:r>
            <a:endParaRPr lang="en-US" sz="3400" dirty="0"/>
          </a:p>
        </p:txBody>
      </p:sp>
      <p:sp>
        <p:nvSpPr>
          <p:cNvPr id="15" name="rotulo-148"/>
          <p:cNvSpPr txBox="1"/>
          <p:nvPr/>
        </p:nvSpPr>
        <p:spPr>
          <a:xfrm>
            <a:off x="5715000" y="4937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crescimento 2020–2025 dos municípios fora das capitais e das 27 capitais</a:t>
            </a:r>
            <a:endParaRPr lang="en-US" sz="1400" dirty="0"/>
          </a:p>
        </p:txBody>
      </p:sp>
      <p:sp>
        <p:nvSpPr>
          <p:cNvPr id="16" name="fonte-149"/>
          <p:cNvSpPr txBox="1"/>
          <p:nvPr/>
        </p:nvSpPr>
        <p:spPr>
          <a:xfrm>
            <a:off x="1188720" y="6281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Fonte: RAIS; agrupamento de municípios por k-médias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linha-150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PERGUNTA 3 · QUALIDADE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Cresceu em quantidade, não em remuneração relativa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65960"/>
          <a:ext cx="4572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86400" y="1965960"/>
          <a:ext cx="4572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o-151"/>
          <p:cNvSpPr txBox="1"/>
          <p:nvPr/>
        </p:nvSpPr>
        <p:spPr>
          <a:xfrm>
            <a:off x="548640" y="5212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3,24 → 3,41 SM: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alta de 5% em dezoito anos, enquanto o emprego mais que dobrou.</a:t>
            </a:r>
            <a:endParaRPr lang="en-US" sz="1500" dirty="0"/>
          </a:p>
        </p:txBody>
      </p:sp>
      <p:sp>
        <p:nvSpPr>
          <p:cNvPr id="7" name="texto-152"/>
          <p:cNvSpPr txBox="1"/>
          <p:nvPr/>
        </p:nvSpPr>
        <p:spPr>
          <a:xfrm>
            <a:off x="5486400" y="5212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Pico entre 6 e 12 meses: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77% completam um ano; menos de 60% chegam a dois.</a:t>
            </a:r>
            <a:endParaRPr lang="en-US" sz="1500" dirty="0"/>
          </a:p>
        </p:txBody>
      </p:sp>
      <p:sp>
        <p:nvSpPr>
          <p:cNvPr id="8" name="fonte-153"/>
          <p:cNvSpPr txBox="1"/>
          <p:nvPr/>
        </p:nvSpPr>
        <p:spPr>
          <a:xfrm>
            <a:off x="1188720" y="6281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Fonte: RAIS; tábua de vida de período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linha-154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PERGUNTA 4 · EQUIDADE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Gênero é diferença de retorno; raça, de acesso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6596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numero-155"/>
          <p:cNvSpPr txBox="1"/>
          <p:nvPr/>
        </p:nvSpPr>
        <p:spPr>
          <a:xfrm>
            <a:off x="6766560" y="20574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19,0% → 7,8%</a:t>
            </a:r>
            <a:endParaRPr lang="en-US" sz="3400" dirty="0"/>
          </a:p>
        </p:txBody>
      </p:sp>
      <p:sp>
        <p:nvSpPr>
          <p:cNvPr id="6" name="rotulo-156"/>
          <p:cNvSpPr txBox="1"/>
          <p:nvPr/>
        </p:nvSpPr>
        <p:spPr>
          <a:xfrm>
            <a:off x="6766560" y="2788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hiato bruto de gênero, 2007 a 2025 — e a parcela explicada é negativa</a:t>
            </a:r>
            <a:endParaRPr lang="en-US" sz="1400" dirty="0"/>
          </a:p>
        </p:txBody>
      </p:sp>
      <p:sp>
        <p:nvSpPr>
          <p:cNvPr id="7" name="numero-157"/>
          <p:cNvSpPr txBox="1"/>
          <p:nvPr/>
        </p:nvSpPr>
        <p:spPr>
          <a:xfrm>
            <a:off x="6766560" y="3657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34,3% → 30,6%</a:t>
            </a:r>
            <a:endParaRPr lang="en-US" sz="3400" dirty="0"/>
          </a:p>
        </p:txBody>
      </p:sp>
      <p:sp>
        <p:nvSpPr>
          <p:cNvPr id="8" name="rotulo-158"/>
          <p:cNvSpPr txBox="1"/>
          <p:nvPr/>
        </p:nvSpPr>
        <p:spPr>
          <a:xfrm>
            <a:off x="6766560" y="43891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participação feminina no estoque: o setor cresceu e ficou menos feminino</a:t>
            </a:r>
            <a:endParaRPr lang="en-US" sz="1400" dirty="0"/>
          </a:p>
        </p:txBody>
      </p:sp>
      <p:sp>
        <p:nvSpPr>
          <p:cNvPr id="9" name="texto-159"/>
          <p:cNvSpPr txBox="1"/>
          <p:nvPr/>
        </p:nvSpPr>
        <p:spPr>
          <a:xfrm>
            <a:off x="676656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Equidade salarial na empresa atua sobre o hiato de gênero; política de acesso, sobre o racial.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linha-160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PERGUNTA 5 · PARA ONDE VAI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Prever o futuro é incerto; estimar o presente, não</a:t>
            </a:r>
            <a:endParaRPr lang="en-US" sz="2800" dirty="0"/>
          </a:p>
        </p:txBody>
      </p:sp>
      <p:sp>
        <p:nvSpPr>
          <p:cNvPr id="4" name="cartao-161"/>
          <p:cNvSpPr/>
          <p:nvPr/>
        </p:nvSpPr>
        <p:spPr>
          <a:xfrm>
            <a:off x="548640" y="2057400"/>
            <a:ext cx="4206240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ev-titulo"/>
          <p:cNvSpPr txBox="1"/>
          <p:nvPr/>
        </p:nvSpPr>
        <p:spPr>
          <a:xfrm>
            <a:off x="82296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Previsão do saldo mensal</a:t>
            </a:r>
            <a:endParaRPr lang="en-US" sz="1800" dirty="0"/>
          </a:p>
        </p:txBody>
      </p:sp>
      <p:sp>
        <p:nvSpPr>
          <p:cNvPr id="6" name="numero-162"/>
          <p:cNvSpPr txBox="1"/>
          <p:nvPr/>
        </p:nvSpPr>
        <p:spPr>
          <a:xfrm>
            <a:off x="822960" y="2697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33% × 10,5%</a:t>
            </a:r>
            <a:endParaRPr lang="en-US" sz="3600" dirty="0"/>
          </a:p>
        </p:txBody>
      </p:sp>
      <p:sp>
        <p:nvSpPr>
          <p:cNvPr id="7" name="rotulo-163"/>
          <p:cNvSpPr txBox="1"/>
          <p:nvPr/>
        </p:nvSpPr>
        <p:spPr>
          <a:xfrm>
            <a:off x="822960" y="3474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menos erro que o ingênuo sazonal: melhor SARIMA × melhor Prophet, nas mesmas 5 dobras</a:t>
            </a:r>
            <a:endParaRPr lang="en-US" sz="1400" dirty="0"/>
          </a:p>
        </p:txBody>
      </p:sp>
      <p:sp>
        <p:nvSpPr>
          <p:cNvPr id="8" name="texto-164"/>
          <p:cNvSpPr txBox="1"/>
          <p:nvPr/>
        </p:nvSpPr>
        <p:spPr>
          <a:xfrm>
            <a:off x="822960" y="4480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intervalo de predição cruza o zero ao fim do primeiro ano: o horizonte reportado é de 18 meses, não até 2030 como previa a proposta.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120640" y="205740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o-165"/>
          <p:cNvSpPr txBox="1"/>
          <p:nvPr/>
        </p:nvSpPr>
        <p:spPr>
          <a:xfrm>
            <a:off x="5120640" y="5120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Cada ano estimado só com os anteriores. Em 10 dos 12 anos, erro de até 2,2%; os piores são 2018 e 2022, saltos que o fluxo não antecipa.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linha-166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DASHBOARD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Um painel por pergunta, com os dados no navegador</a:t>
            </a:r>
            <a:endParaRPr lang="en-US" sz="2800" dirty="0"/>
          </a:p>
        </p:txBody>
      </p:sp>
      <p:pic>
        <p:nvPicPr>
          <p:cNvPr id="4" name="dashboard-imagem" descr="Página da pergunta 1 no dashboard: pergunta, filtros, indicadores e o gráfico do esto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5669280" cy="3809048"/>
          </a:xfrm>
          <a:prstGeom prst="rect">
            <a:avLst/>
          </a:prstGeom>
        </p:spPr>
      </p:pic>
      <p:sp>
        <p:nvSpPr>
          <p:cNvPr id="5" name="circulo-167"/>
          <p:cNvSpPr/>
          <p:nvPr/>
        </p:nvSpPr>
        <p:spPr>
          <a:xfrm>
            <a:off x="6583680" y="2011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irculo-texto-168"/>
          <p:cNvSpPr txBox="1"/>
          <p:nvPr/>
        </p:nvSpPr>
        <p:spPr>
          <a:xfrm>
            <a:off x="65836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dash-item-169"/>
          <p:cNvSpPr txBox="1"/>
          <p:nvPr/>
        </p:nvSpPr>
        <p:spPr>
          <a:xfrm>
            <a:off x="7132320" y="1965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Oito páginas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visão geral, cinco perguntas, exploração do CAGED e uma página de análise — a única com texto</a:t>
            </a:r>
            <a:endParaRPr lang="en-US" sz="1400" dirty="0"/>
          </a:p>
        </p:txBody>
      </p:sp>
      <p:sp>
        <p:nvSpPr>
          <p:cNvPr id="8" name="circulo-170"/>
          <p:cNvSpPr/>
          <p:nvPr/>
        </p:nvSpPr>
        <p:spPr>
          <a:xfrm>
            <a:off x="6583680" y="29443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irculo-texto-171"/>
          <p:cNvSpPr txBox="1"/>
          <p:nvPr/>
        </p:nvSpPr>
        <p:spPr>
          <a:xfrm>
            <a:off x="658368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dash-item-172"/>
          <p:cNvSpPr txBox="1"/>
          <p:nvPr/>
        </p:nvSpPr>
        <p:spPr>
          <a:xfrm>
            <a:off x="7132320" y="289864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Filtro de território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estados, regiões ou “Brasil sem SP”, em todas as páginas</a:t>
            </a:r>
            <a:endParaRPr lang="en-US" sz="1400" dirty="0"/>
          </a:p>
        </p:txBody>
      </p:sp>
      <p:sp>
        <p:nvSpPr>
          <p:cNvPr id="11" name="circulo-173"/>
          <p:cNvSpPr/>
          <p:nvPr/>
        </p:nvSpPr>
        <p:spPr>
          <a:xfrm>
            <a:off x="6583680" y="3877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irculo-texto-174"/>
          <p:cNvSpPr txBox="1"/>
          <p:nvPr/>
        </p:nvSpPr>
        <p:spPr>
          <a:xfrm>
            <a:off x="658368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dash-item-175"/>
          <p:cNvSpPr txBox="1"/>
          <p:nvPr/>
        </p:nvSpPr>
        <p:spPr>
          <a:xfrm>
            <a:off x="7132320" y="383133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Tabela a um clique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cada gráfico mostra os valores exatos</a:t>
            </a:r>
            <a:endParaRPr lang="en-US" sz="1400" dirty="0"/>
          </a:p>
        </p:txBody>
      </p:sp>
      <p:sp>
        <p:nvSpPr>
          <p:cNvPr id="14" name="circulo-176"/>
          <p:cNvSpPr/>
          <p:nvPr/>
        </p:nvSpPr>
        <p:spPr>
          <a:xfrm>
            <a:off x="6583680" y="48097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irculo-texto-177"/>
          <p:cNvSpPr txBox="1"/>
          <p:nvPr/>
        </p:nvSpPr>
        <p:spPr>
          <a:xfrm>
            <a:off x="65836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dash-item-178"/>
          <p:cNvSpPr txBox="1"/>
          <p:nvPr/>
        </p:nvSpPr>
        <p:spPr>
          <a:xfrm>
            <a:off x="7132320" y="476402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Atualização sozinha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pipeline publica a Gold e dispara a reconstrução do site</a:t>
            </a:r>
            <a:endParaRPr lang="en-US" sz="1400" dirty="0"/>
          </a:p>
        </p:txBody>
      </p:sp>
      <p:sp>
        <p:nvSpPr>
          <p:cNvPr id="17" name="dash-url">
            <a:hlinkClick r:id="rId2" tooltip=""/>
          </p:cNvPr>
          <p:cNvSpPr txBox="1"/>
          <p:nvPr/>
        </p:nvSpPr>
        <p:spPr>
          <a:xfrm>
            <a:off x="6583680" y="5760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chemeClr val="tx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mercadotech.pages.dev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linha-179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SÍNTESE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Cresceu muito, mudou de lugar, não ficou mais justo</a:t>
            </a:r>
            <a:endParaRPr lang="en-US" sz="2800" dirty="0"/>
          </a:p>
        </p:txBody>
      </p:sp>
      <p:sp>
        <p:nvSpPr>
          <p:cNvPr id="4" name="circulo-180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irculo-texto-181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intese-182"/>
          <p:cNvSpPr txBox="1"/>
          <p:nvPr/>
        </p:nvSpPr>
        <p:spPr>
          <a:xfrm>
            <a:off x="1234440" y="2011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+143% em dezoito anos, salto em 2021–2022</a:t>
            </a:r>
            <a:endParaRPr lang="en-US" sz="1600" dirty="0"/>
          </a:p>
        </p:txBody>
      </p:sp>
      <p:sp>
        <p:nvSpPr>
          <p:cNvPr id="7" name="circulo-183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irculo-texto-184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intese-185"/>
          <p:cNvSpPr txBox="1"/>
          <p:nvPr/>
        </p:nvSpPr>
        <p:spPr>
          <a:xfrm>
            <a:off x="1234440" y="2651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58% dos profissionais fora de empresas de TI</a:t>
            </a:r>
            <a:endParaRPr lang="en-US" sz="1600" dirty="0"/>
          </a:p>
        </p:txBody>
      </p:sp>
      <p:sp>
        <p:nvSpPr>
          <p:cNvPr id="10" name="circulo-18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circulo-texto-187"/>
          <p:cNvSpPr txBox="1"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sintese-188"/>
          <p:cNvSpPr txBox="1"/>
          <p:nvPr/>
        </p:nvSpPr>
        <p:spPr>
          <a:xfrm>
            <a:off x="1234440" y="3291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Mediana em SM praticamente parada: 3,24 → 3,41</a:t>
            </a:r>
            <a:endParaRPr lang="en-US" sz="1600" dirty="0"/>
          </a:p>
        </p:txBody>
      </p:sp>
      <p:sp>
        <p:nvSpPr>
          <p:cNvPr id="13" name="circulo-189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circulo-texto-190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sintese-191"/>
          <p:cNvSpPr txBox="1"/>
          <p:nvPr/>
        </p:nvSpPr>
        <p:spPr>
          <a:xfrm>
            <a:off x="1234440" y="3931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Gênero: retorno. Raça: acesso. Menos mulheres</a:t>
            </a:r>
            <a:endParaRPr lang="en-US" sz="1600" dirty="0"/>
          </a:p>
        </p:txBody>
      </p:sp>
      <p:sp>
        <p:nvSpPr>
          <p:cNvPr id="16" name="circulo-192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circulo-texto-193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sintese-194"/>
          <p:cNvSpPr txBox="1"/>
          <p:nvPr/>
        </p:nvSpPr>
        <p:spPr>
          <a:xfrm>
            <a:off x="1234440" y="4572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Futuro incerto; presente estimado com erro médio de 2,1%</a:t>
            </a:r>
            <a:endParaRPr lang="en-US" sz="1600" dirty="0"/>
          </a:p>
        </p:txBody>
      </p:sp>
      <p:sp>
        <p:nvSpPr>
          <p:cNvPr id="19" name="cartao-195"/>
          <p:cNvSpPr/>
          <p:nvPr/>
        </p:nvSpPr>
        <p:spPr>
          <a:xfrm>
            <a:off x="6675120" y="2011680"/>
            <a:ext cx="3383280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se"/>
          <p:cNvSpPr txBox="1"/>
          <p:nvPr/>
        </p:nvSpPr>
        <p:spPr>
          <a:xfrm>
            <a:off x="6949440" y="224028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A tese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O emprego formal de tecnologia deixou de ser um setor para virar uma função distribuída pela economia — e esse crescimento não se converteu em remuneração relativa maior nem em menos desigualdade.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linha-196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LIMITES E PRÓXIMOS PASSOS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que os dados não permitem afirmar</a:t>
            </a:r>
            <a:endParaRPr lang="en-US" sz="2800" dirty="0"/>
          </a:p>
        </p:txBody>
      </p:sp>
      <p:sp>
        <p:nvSpPr>
          <p:cNvPr id="4" name="cartao-197"/>
          <p:cNvSpPr/>
          <p:nvPr/>
        </p:nvSpPr>
        <p:spPr>
          <a:xfrm>
            <a:off x="548640" y="2011680"/>
            <a:ext cx="4572000" cy="393192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l-titulo-198"/>
          <p:cNvSpPr txBox="1"/>
          <p:nvPr/>
        </p:nvSpPr>
        <p:spPr>
          <a:xfrm>
            <a:off x="822960" y="2194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Limitações</a:t>
            </a:r>
            <a:endParaRPr lang="en-US" sz="1900" dirty="0"/>
          </a:p>
        </p:txBody>
      </p:sp>
      <p:sp>
        <p:nvSpPr>
          <p:cNvPr id="6" name="col-itens-199"/>
          <p:cNvSpPr txBox="1"/>
          <p:nvPr/>
        </p:nvSpPr>
        <p:spPr>
          <a:xfrm>
            <a:off x="822960" y="274320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Só o mercado formal: contratação como PJ fica de fora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Local do estabelecimento, não do trabalho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Parcela não explicada é limite superior, não medida de discriminação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Validação externa só na lente de ocupação; nowcast erra mais em anos de salto</a:t>
            </a:r>
            <a:endParaRPr lang="en-US" sz="1500" dirty="0"/>
          </a:p>
        </p:txBody>
      </p:sp>
      <p:sp>
        <p:nvSpPr>
          <p:cNvPr id="7" name="cartao-200"/>
          <p:cNvSpPr/>
          <p:nvPr/>
        </p:nvSpPr>
        <p:spPr>
          <a:xfrm>
            <a:off x="5486400" y="2011680"/>
            <a:ext cx="4572000" cy="3931920"/>
          </a:xfrm>
          <a:prstGeom prst="roundRect">
            <a:avLst>
              <a:gd name="adj" fmla="val 186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col-titulo-201"/>
          <p:cNvSpPr txBox="1"/>
          <p:nvPr/>
        </p:nvSpPr>
        <p:spPr>
          <a:xfrm>
            <a:off x="5760720" y="2194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Trabalhos futuros</a:t>
            </a:r>
            <a:endParaRPr lang="en-US" sz="1900" dirty="0"/>
          </a:p>
        </p:txBody>
      </p:sp>
      <p:sp>
        <p:nvSpPr>
          <p:cNvPr id="9" name="col-itens-202"/>
          <p:cNvSpPr txBox="1"/>
          <p:nvPr/>
        </p:nvSpPr>
        <p:spPr>
          <a:xfrm>
            <a:off x="5760720" y="274320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Retenção por gênero cruzando CAGED (entrada) e RAIS (permanência)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Decomposição shift-share do crescimento regional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Linhagem navegável da Gold com transformação declarativa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Mesmo pipeline para outro recorte: saúde, engenharia, educação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m-titulo"/>
          <p:cNvSpPr txBox="1"/>
          <p:nvPr/>
        </p:nvSpPr>
        <p:spPr>
          <a:xfrm>
            <a:off x="54864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Obrigado</a:t>
            </a:r>
            <a:endParaRPr lang="en-US" sz="5400" dirty="0"/>
          </a:p>
        </p:txBody>
      </p:sp>
      <p:sp>
        <p:nvSpPr>
          <p:cNvPr id="3" name="fim-sub"/>
          <p:cNvSpPr txBox="1"/>
          <p:nvPr/>
        </p:nvSpPr>
        <p:spPr>
          <a:xfrm>
            <a:off x="548640" y="2697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Perguntas?</a:t>
            </a:r>
            <a:endParaRPr lang="en-US" sz="2600" dirty="0"/>
          </a:p>
        </p:txBody>
      </p:sp>
      <p:sp>
        <p:nvSpPr>
          <p:cNvPr id="4" name="link-rotulo-203"/>
          <p:cNvSpPr txBox="1"/>
          <p:nvPr/>
        </p:nvSpPr>
        <p:spPr>
          <a:xfrm>
            <a:off x="54864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Dashboard</a:t>
            </a:r>
            <a:endParaRPr lang="en-US" sz="1500" dirty="0"/>
          </a:p>
        </p:txBody>
      </p:sp>
      <p:sp>
        <p:nvSpPr>
          <p:cNvPr id="5" name="link-204">
            <a:hlinkClick r:id="rId1" tooltip=""/>
          </p:cNvPr>
          <p:cNvSpPr txBox="1"/>
          <p:nvPr/>
        </p:nvSpPr>
        <p:spPr>
          <a:xfrm>
            <a:off x="2377440" y="3657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u="sng" dirty="0">
                <a:solidFill>
                  <a:schemeClr val="tx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mercadotech.pages.dev</a:t>
            </a:r>
            <a:endParaRPr lang="en-US" sz="1700" dirty="0"/>
          </a:p>
        </p:txBody>
      </p:sp>
      <p:sp>
        <p:nvSpPr>
          <p:cNvPr id="6" name="link-rotulo-205"/>
          <p:cNvSpPr txBox="1"/>
          <p:nvPr/>
        </p:nvSpPr>
        <p:spPr>
          <a:xfrm>
            <a:off x="548640" y="4206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Código</a:t>
            </a:r>
            <a:endParaRPr lang="en-US" sz="1500" dirty="0"/>
          </a:p>
        </p:txBody>
      </p:sp>
      <p:sp>
        <p:nvSpPr>
          <p:cNvPr id="7" name="link-206">
            <a:hlinkClick r:id="rId2" tooltip=""/>
          </p:cNvPr>
          <p:cNvSpPr txBox="1"/>
          <p:nvPr/>
        </p:nvSpPr>
        <p:spPr>
          <a:xfrm>
            <a:off x="2377440" y="4206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u="sng" dirty="0">
                <a:solidFill>
                  <a:schemeClr val="tx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github.com/GianSE/mercadotech</a:t>
            </a:r>
            <a:endParaRPr lang="en-US" sz="1700" dirty="0"/>
          </a:p>
        </p:txBody>
      </p:sp>
      <p:sp>
        <p:nvSpPr>
          <p:cNvPr id="8" name="link-rotulo-207"/>
          <p:cNvSpPr txBox="1"/>
          <p:nvPr/>
        </p:nvSpPr>
        <p:spPr>
          <a:xfrm>
            <a:off x="548640" y="4754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Dados abertos</a:t>
            </a:r>
            <a:endParaRPr lang="en-US" sz="1500" dirty="0"/>
          </a:p>
        </p:txBody>
      </p:sp>
      <p:sp>
        <p:nvSpPr>
          <p:cNvPr id="9" name="link-208">
            <a:hlinkClick r:id="rId3" tooltip=""/>
          </p:cNvPr>
          <p:cNvSpPr txBox="1"/>
          <p:nvPr/>
        </p:nvSpPr>
        <p:spPr>
          <a:xfrm>
            <a:off x="2377440" y="4754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u="sng" dirty="0">
                <a:solidFill>
                  <a:schemeClr val="tx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huggingface.co/Gianpedro</a:t>
            </a:r>
            <a:endParaRPr lang="en-US" sz="1700" dirty="0"/>
          </a:p>
        </p:txBody>
      </p:sp>
      <p:pic>
        <p:nvPicPr>
          <p:cNvPr id="10" name="fim-logo" descr="Universidade que Transforma — UTFP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897880"/>
            <a:ext cx="3840480" cy="6156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UTFPR TCC">
  <a:themeElements>
    <a:clrScheme name="UTFPR TCC">
      <a:dk1>
        <a:srgbClr val="1B2630"/>
      </a:dk1>
      <a:lt1>
        <a:srgbClr val="FFFFFF"/>
      </a:lt1>
      <a:dk2>
        <a:srgbClr val="4A5866"/>
      </a:dk2>
      <a:lt2>
        <a:srgbClr val="EEF1F6"/>
      </a:lt2>
      <a:accent1>
        <a:srgbClr val="F2B705"/>
      </a:accent1>
      <a:accent2>
        <a:srgbClr val="1B2630"/>
      </a:accent2>
      <a:accent3>
        <a:srgbClr val="8A96A3"/>
      </a:accent3>
      <a:accent4>
        <a:srgbClr val="B23A3A"/>
      </a:accent4>
      <a:accent5>
        <a:srgbClr val="2F6F4F"/>
      </a:accent5>
      <a:accent6>
        <a:srgbClr val="5B6B7A"/>
      </a:accent6>
      <a:hlink>
        <a:srgbClr val="1B2630"/>
      </a:hlink>
      <a:folHlink>
        <a:srgbClr val="4A5866"/>
      </a:folHlink>
    </a:clrScheme>
    <a:fontScheme name="UTFPR TCC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Mercado de Tecnologia no Brasil — RAIS e CAGED</dc:title>
  <dc:subject>PptxGenJS Presentation</dc:subject>
  <dc:creator>Gian Pedro Rodrigues</dc:creator>
  <cp:lastModifiedBy>Gian Pedro Rodrigues</cp:lastModifiedBy>
  <cp:revision>1</cp:revision>
  <dcterms:created xsi:type="dcterms:W3CDTF">2026-10-26T04:07:06Z</dcterms:created>
  <dcterms:modified xsi:type="dcterms:W3CDTF">2026-10-26T04:07:06Z</dcterms:modified>
</cp:coreProperties>
</file>